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1" r:id="rId6"/>
    <p:sldId id="259" r:id="rId7"/>
    <p:sldId id="260" r:id="rId8"/>
    <p:sldId id="262" r:id="rId9"/>
    <p:sldId id="265" r:id="rId10"/>
    <p:sldId id="263" r:id="rId11"/>
    <p:sldId id="267" r:id="rId12"/>
    <p:sldId id="268" r:id="rId13"/>
    <p:sldId id="266" r:id="rId14"/>
    <p:sldId id="286" r:id="rId15"/>
    <p:sldId id="284" r:id="rId16"/>
    <p:sldId id="306" r:id="rId17"/>
    <p:sldId id="307" r:id="rId18"/>
    <p:sldId id="305" r:id="rId19"/>
    <p:sldId id="285" r:id="rId20"/>
    <p:sldId id="287" r:id="rId21"/>
    <p:sldId id="312" r:id="rId22"/>
    <p:sldId id="310" r:id="rId23"/>
    <p:sldId id="313" r:id="rId24"/>
    <p:sldId id="292" r:id="rId25"/>
    <p:sldId id="269" r:id="rId26"/>
    <p:sldId id="271" r:id="rId27"/>
    <p:sldId id="272" r:id="rId28"/>
    <p:sldId id="274" r:id="rId29"/>
    <p:sldId id="275" r:id="rId30"/>
    <p:sldId id="270" r:id="rId31"/>
    <p:sldId id="276" r:id="rId32"/>
    <p:sldId id="277" r:id="rId33"/>
    <p:sldId id="278" r:id="rId34"/>
    <p:sldId id="280" r:id="rId35"/>
    <p:sldId id="281" r:id="rId36"/>
    <p:sldId id="282" r:id="rId37"/>
    <p:sldId id="293" r:id="rId38"/>
    <p:sldId id="294" r:id="rId39"/>
    <p:sldId id="295" r:id="rId40"/>
    <p:sldId id="296" r:id="rId41"/>
    <p:sldId id="297" r:id="rId42"/>
    <p:sldId id="303" r:id="rId43"/>
    <p:sldId id="301" r:id="rId44"/>
    <p:sldId id="304" r:id="rId45"/>
    <p:sldId id="300" r:id="rId46"/>
    <p:sldId id="315" r:id="rId47"/>
    <p:sldId id="316" r:id="rId48"/>
    <p:sldId id="317" r:id="rId49"/>
    <p:sldId id="318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3C"/>
    <a:srgbClr val="0B6430"/>
    <a:srgbClr val="B05214"/>
    <a:srgbClr val="F8F088"/>
    <a:srgbClr val="C1D98B"/>
    <a:srgbClr val="ACC07A"/>
    <a:srgbClr val="E4F889"/>
    <a:srgbClr val="C5E0B4"/>
    <a:srgbClr val="686F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1710" y="0"/>
            <a:ext cx="7689215" cy="1574165"/>
          </a:xfrm>
        </p:spPr>
        <p:txBody>
          <a:bodyPr>
            <a:normAutofit fontScale="90000"/>
          </a:bodyPr>
          <a:p>
            <a:r>
              <a:rPr lang="en-US"/>
              <a:t>March Madness 2025 Predictions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635" y="1573848"/>
            <a:ext cx="9144000" cy="1655762"/>
          </a:xfrm>
        </p:spPr>
        <p:txBody>
          <a:bodyPr/>
          <a:p>
            <a:r>
              <a:rPr lang="en-US"/>
              <a:t>Daniel Aybar</a:t>
            </a:r>
            <a:endParaRPr lang="en-US"/>
          </a:p>
        </p:txBody>
      </p:sp>
      <p:pic>
        <p:nvPicPr>
          <p:cNvPr id="4" name="Picture 3" descr="coldp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10" y="1173480"/>
            <a:ext cx="3618230" cy="2320925"/>
          </a:xfrm>
          <a:prstGeom prst="rect">
            <a:avLst/>
          </a:prstGeom>
        </p:spPr>
      </p:pic>
      <p:pic>
        <p:nvPicPr>
          <p:cNvPr id="5" name="Picture 4" descr="coldp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" y="4250055"/>
            <a:ext cx="3732530" cy="2398395"/>
          </a:xfrm>
          <a:prstGeom prst="rect">
            <a:avLst/>
          </a:prstGeom>
        </p:spPr>
      </p:pic>
      <p:pic>
        <p:nvPicPr>
          <p:cNvPr id="6" name="Picture 5" descr="coldp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270" y="4237990"/>
            <a:ext cx="3618230" cy="2490470"/>
          </a:xfrm>
          <a:prstGeom prst="rect">
            <a:avLst/>
          </a:prstGeom>
        </p:spPr>
      </p:pic>
      <p:pic>
        <p:nvPicPr>
          <p:cNvPr id="7" name="Picture 6" descr="coldp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500" y="1403350"/>
            <a:ext cx="3556000" cy="2091055"/>
          </a:xfrm>
          <a:prstGeom prst="rect">
            <a:avLst/>
          </a:prstGeom>
        </p:spPr>
      </p:pic>
      <p:pic>
        <p:nvPicPr>
          <p:cNvPr id="8" name="Picture 7" descr="coldp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6340" y="2165350"/>
            <a:ext cx="4718050" cy="36563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Overview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Data compiled from March Madness tournament games from 2016-2024 was implemented to predict outcomes for the Men’s 2025 tournament</a:t>
            </a:r>
            <a:endParaRPr lang="en-US"/>
          </a:p>
          <a:p>
            <a:r>
              <a:rPr lang="en-US"/>
              <a:t>Several Different predictive methods such as KNN, RIPPER, Naive Bayes, SVM, ANN, and Decision Trees were applied.</a:t>
            </a:r>
            <a:endParaRPr lang="en-US"/>
          </a:p>
          <a:p>
            <a:r>
              <a:rPr lang="en-US"/>
              <a:t>Two Predictive methods were used:</a:t>
            </a:r>
            <a:endParaRPr lang="en-US"/>
          </a:p>
          <a:p>
            <a:pPr lvl="1"/>
            <a:r>
              <a:rPr lang="en-US"/>
              <a:t>For individual teams, total number of wins</a:t>
            </a:r>
            <a:endParaRPr lang="en-US"/>
          </a:p>
          <a:p>
            <a:pPr lvl="1"/>
            <a:r>
              <a:rPr lang="en-US"/>
              <a:t>For matchups, most likely winner and loser.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Data and Sources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Data was compiled from Kenpom and Basketball Reference</a:t>
            </a:r>
            <a:endParaRPr lang="en-US"/>
          </a:p>
          <a:p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1093470" y="2476500"/>
          <a:ext cx="9269730" cy="2378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9910"/>
                <a:gridCol w="3089910"/>
                <a:gridCol w="3089910"/>
              </a:tblGrid>
              <a:tr h="475615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Team Dataset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Matchup Dataset</a:t>
                      </a:r>
                      <a:endParaRPr lang="en-US"/>
                    </a:p>
                  </a:txBody>
                  <a:tcPr/>
                </a:tc>
              </a:tr>
              <a:tr h="4756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Observations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516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508</a:t>
                      </a:r>
                      <a:endParaRPr lang="en-US"/>
                    </a:p>
                  </a:txBody>
                  <a:tcPr/>
                </a:tc>
              </a:tr>
              <a:tr h="4756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Target Variable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Number of Wins </a:t>
                      </a: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(Discrete with range 0:6)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Matchup Winner </a:t>
                      </a: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(Binary 0 or 1)</a:t>
                      </a:r>
                      <a:endParaRPr lang="en-US"/>
                    </a:p>
                  </a:txBody>
                  <a:tcPr/>
                </a:tc>
              </a:tr>
              <a:tr h="4756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Descriptive Variables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Individual Team Statistics from regular season</a:t>
                      </a: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(87 initial variables)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Difference in statistics between Team 1 and Team 2 (13 initial variables)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p>
            <a:pPr algn="ctr"/>
            <a:r>
              <a:rPr lang="en-US">
                <a:solidFill>
                  <a:schemeClr val="bg1"/>
                </a:solidFill>
              </a:rPr>
              <a:t>Team Dataset Analysis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Content Placeholder 3" descr="teampic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69665" y="1476375"/>
            <a:ext cx="4853305" cy="51892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276225"/>
            <a:ext cx="10515600" cy="1325563"/>
          </a:xfrm>
        </p:spPr>
        <p:txBody>
          <a:bodyPr/>
          <a:p>
            <a:pPr algn="ctr"/>
            <a:r>
              <a:rPr lang="en-US"/>
              <a:t>Data Description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00100" y="2042795"/>
          <a:ext cx="10591800" cy="612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345"/>
                <a:gridCol w="3977640"/>
                <a:gridCol w="1026160"/>
                <a:gridCol w="958850"/>
                <a:gridCol w="935990"/>
                <a:gridCol w="975360"/>
                <a:gridCol w="97345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Variable 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Variable Description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Min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Max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Mean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SD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TW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Total Wins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530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THREEper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 Point Percentage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O3per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Opponent 3 Point Percentage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Possession Margin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AdjEM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Adjusted Efficiency Margin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AdjD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Adjusted Deffensive Efficiency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AdjO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Adjusted Offensive Efficiency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AdjT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Adjusted Tempo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Luck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Luck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AdjSOS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Adjusted Strength of Schedule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Data Description Continued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654050" y="1825625"/>
          <a:ext cx="108839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410"/>
                <a:gridCol w="3286125"/>
                <a:gridCol w="1239520"/>
                <a:gridCol w="1201420"/>
                <a:gridCol w="1252855"/>
                <a:gridCol w="1227455"/>
                <a:gridCol w="11741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Variable 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Variable Description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Min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Max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Mean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SD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THREEpar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 Point Attempt Rate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STLper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Steal Percentage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BLKper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Block Percentage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fta_marg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Free Throw Attempt Margin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pt_marg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Average Point Margin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atr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Assist-to-Turnover Ratio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oatr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Opponent Assist-to-Turnover Ratio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Seed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Tournament Seeding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Strength of Record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ts_marg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True Shooting Margin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Data Description Continued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/>
              <a:t>Stats with ‘opponent’ in the description take the stats allowed by a given team to their opponents throughout the year.</a:t>
            </a:r>
            <a:endParaRPr lang="en-US"/>
          </a:p>
          <a:p>
            <a:pPr lvl="1"/>
            <a:r>
              <a:rPr lang="en-US">
                <a:sym typeface="+mn-ea"/>
              </a:rPr>
              <a:t>Example: Team A allowed their opponents to shoot 35% from 3-point shots on average throughout the season. Thus their O3per = 0.35</a:t>
            </a:r>
            <a:endParaRPr lang="en-US"/>
          </a:p>
          <a:p>
            <a:endParaRPr lang="en-US"/>
          </a:p>
          <a:p>
            <a:r>
              <a:rPr lang="en-US"/>
              <a:t>Stats with ‘margin’ in the description take the given team’s average subtracted by their opponent average.</a:t>
            </a:r>
            <a:endParaRPr lang="en-US"/>
          </a:p>
          <a:p>
            <a:pPr lvl="1"/>
            <a:r>
              <a:rPr lang="en-US" sz="2400"/>
              <a:t>Example: Team A scored 70 points per game and allowed 66 points per game. Their pt_marg = 4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Content Placeholder 3" descr="Corrplot1"/>
          <p:cNvPicPr>
            <a:picLocks noChangeAspect="1"/>
          </p:cNvPicPr>
          <p:nvPr>
            <p:ph idx="1"/>
          </p:nvPr>
        </p:nvPicPr>
        <p:blipFill>
          <a:blip r:embed="rId1"/>
          <a:srcRect t="11580" b="11572"/>
          <a:stretch>
            <a:fillRect/>
          </a:stretch>
        </p:blipFill>
        <p:spPr>
          <a:xfrm>
            <a:off x="2759710" y="961390"/>
            <a:ext cx="6672580" cy="56172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pPr algn="ctr"/>
            <a:r>
              <a:rPr lang="en-US"/>
              <a:t>Correlation Plot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Content Placeholder 3" descr="Corrplot1"/>
          <p:cNvPicPr>
            <a:picLocks noChangeAspect="1"/>
          </p:cNvPicPr>
          <p:nvPr>
            <p:ph idx="1"/>
          </p:nvPr>
        </p:nvPicPr>
        <p:blipFill>
          <a:blip r:embed="rId1"/>
          <a:srcRect t="11433" r="-57" b="11024"/>
          <a:stretch>
            <a:fillRect/>
          </a:stretch>
        </p:blipFill>
        <p:spPr>
          <a:xfrm>
            <a:off x="2759710" y="950595"/>
            <a:ext cx="6676390" cy="56680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pPr algn="ctr"/>
            <a:r>
              <a:rPr lang="en-US"/>
              <a:t>Correlation Plot</a:t>
            </a: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39310" y="2713990"/>
            <a:ext cx="930910" cy="851535"/>
          </a:xfrm>
          <a:prstGeom prst="ellipse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780405" y="2713990"/>
            <a:ext cx="930275" cy="851535"/>
          </a:xfrm>
          <a:prstGeom prst="ellipse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780405" y="3723005"/>
            <a:ext cx="930910" cy="944245"/>
          </a:xfrm>
          <a:prstGeom prst="ellipse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247015" y="1997075"/>
            <a:ext cx="251269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/>
              <a:t>Several Highly Correlated Descriptive Variables</a:t>
            </a:r>
            <a:endParaRPr lang="en-US" sz="2400" b="1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213610" y="2713355"/>
            <a:ext cx="2255520" cy="419735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Content Placeholder 3" descr="Corrplot1"/>
          <p:cNvPicPr>
            <a:picLocks noChangeAspect="1"/>
          </p:cNvPicPr>
          <p:nvPr>
            <p:ph idx="1"/>
          </p:nvPr>
        </p:nvPicPr>
        <p:blipFill>
          <a:blip r:embed="rId1"/>
          <a:srcRect t="11711" b="11294"/>
          <a:stretch>
            <a:fillRect/>
          </a:stretch>
        </p:blipFill>
        <p:spPr>
          <a:xfrm>
            <a:off x="2759710" y="969645"/>
            <a:ext cx="6672580" cy="56280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pPr algn="ctr"/>
            <a:r>
              <a:rPr lang="en-US"/>
              <a:t>Correlation Plot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8429625" y="2123440"/>
            <a:ext cx="314325" cy="4359910"/>
          </a:xfrm>
          <a:prstGeom prst="roundRect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957955" y="6057265"/>
            <a:ext cx="4943475" cy="354330"/>
          </a:xfrm>
          <a:prstGeom prst="roundRect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39310" y="2713990"/>
            <a:ext cx="930910" cy="851535"/>
          </a:xfrm>
          <a:prstGeom prst="ellipse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780405" y="2713990"/>
            <a:ext cx="930275" cy="851535"/>
          </a:xfrm>
          <a:prstGeom prst="ellipse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780405" y="3723005"/>
            <a:ext cx="930910" cy="944245"/>
          </a:xfrm>
          <a:prstGeom prst="ellipse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247015" y="1997075"/>
            <a:ext cx="251269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/>
              <a:t>Several Highly Correlated Descriptive Variables</a:t>
            </a:r>
            <a:endParaRPr lang="en-US" sz="2400" b="1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213610" y="2713355"/>
            <a:ext cx="2255520" cy="419735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9845675" y="2085340"/>
            <a:ext cx="234696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/>
              <a:t>A few variables highly correlated to the target</a:t>
            </a:r>
            <a:endParaRPr lang="en-US" sz="2400" b="1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9071610" y="2975610"/>
            <a:ext cx="774065" cy="15748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8848725" y="2949575"/>
            <a:ext cx="984250" cy="112268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Feature Selection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sym typeface="+mn-ea"/>
              </a:rPr>
              <a:t>Highest correlation to target was AdjEM</a:t>
            </a:r>
            <a:endParaRPr lang="en-US"/>
          </a:p>
          <a:p>
            <a:r>
              <a:rPr lang="en-US"/>
              <a:t>Dropped AdjO, Seed, and SRS from the dataset due to high correlation with other descriptive variables</a:t>
            </a:r>
            <a:endParaRPr lang="en-US"/>
          </a:p>
          <a:p>
            <a:r>
              <a:rPr lang="en-US"/>
              <a:t>Kept several low correlation variables as well as AdjD and AdjSOS to avoid too much information loss.</a:t>
            </a:r>
            <a:endParaRPr lang="en-US"/>
          </a:p>
          <a:p>
            <a:r>
              <a:rPr lang="en-US"/>
              <a:t>All data</a:t>
            </a:r>
            <a:r>
              <a:rPr lang="en-US" sz="2400"/>
              <a:t> </a:t>
            </a:r>
            <a:r>
              <a:rPr lang="en-US"/>
              <a:t>was standardized to have mean = 0 and sd = 1. 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pPr algn="ctr"/>
            <a:r>
              <a:rPr lang="en-US"/>
              <a:t>Target Variable Manipulation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2855"/>
            <a:ext cx="10515600" cy="469773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/>
              <a:t>Because the data has a large class imbalance, Several new binary target variables were created.</a:t>
            </a:r>
            <a:endParaRPr lang="en-US"/>
          </a:p>
          <a:p>
            <a:endParaRPr lang="en-US"/>
          </a:p>
          <a:p>
            <a:r>
              <a:rPr lang="en-US"/>
              <a:t>Round2: TW &gt; 0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Sweet16: TW &gt; 1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Elite8: TW &gt; 2</a:t>
            </a:r>
            <a:endParaRPr lang="en-US"/>
          </a:p>
          <a:p>
            <a:pPr lvl="1"/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8018780" y="2049780"/>
          <a:ext cx="359029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0130"/>
                <a:gridCol w="1099185"/>
                <a:gridCol w="1450975"/>
              </a:tblGrid>
              <a:tr h="5238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TW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Propotion</a:t>
                      </a:r>
                      <a:endParaRPr lang="en-US"/>
                    </a:p>
                  </a:txBody>
                  <a:tcPr/>
                </a:tc>
              </a:tr>
              <a:tr h="523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261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50.6%</a:t>
                      </a:r>
                      <a:endParaRPr lang="en-US"/>
                    </a:p>
                  </a:txBody>
                  <a:tcPr/>
                </a:tc>
              </a:tr>
              <a:tr h="523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130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25.2%</a:t>
                      </a:r>
                      <a:endParaRPr lang="en-US"/>
                    </a:p>
                  </a:txBody>
                  <a:tcPr/>
                </a:tc>
              </a:tr>
              <a:tr h="523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11.8%</a:t>
                      </a:r>
                      <a:endParaRPr lang="en-US"/>
                    </a:p>
                  </a:txBody>
                  <a:tcPr/>
                </a:tc>
              </a:tr>
              <a:tr h="523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6.2%</a:t>
                      </a:r>
                      <a:endParaRPr lang="en-US"/>
                    </a:p>
                  </a:txBody>
                  <a:tcPr/>
                </a:tc>
              </a:tr>
              <a:tr h="523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3.1%</a:t>
                      </a:r>
                      <a:endParaRPr lang="en-US"/>
                    </a:p>
                  </a:txBody>
                  <a:tcPr/>
                </a:tc>
              </a:tr>
              <a:tr h="523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1.55%</a:t>
                      </a:r>
                      <a:endParaRPr lang="en-US"/>
                    </a:p>
                  </a:txBody>
                  <a:tcPr/>
                </a:tc>
              </a:tr>
              <a:tr h="5238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1.55%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/>
        </p:nvGraphicFramePr>
        <p:xfrm>
          <a:off x="4082415" y="5036185"/>
          <a:ext cx="359092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8550"/>
                <a:gridCol w="1085215"/>
                <a:gridCol w="140716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Elite8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Proportion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452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87.6%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64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12.4%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/>
          <p:nvPr/>
        </p:nvGraphicFramePr>
        <p:xfrm>
          <a:off x="4082415" y="3573780"/>
          <a:ext cx="359092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5865"/>
                <a:gridCol w="982980"/>
                <a:gridCol w="140208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Sweet 16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Proportion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391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75.8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125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24.2%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/>
          <p:nvPr/>
        </p:nvGraphicFramePr>
        <p:xfrm>
          <a:off x="4087495" y="2111375"/>
          <a:ext cx="358584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080"/>
                <a:gridCol w="1061720"/>
                <a:gridCol w="137604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Round2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Proportion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261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50.6%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255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49.4%</a:t>
                      </a:r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Coordinates Plot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30835" y="1504950"/>
            <a:ext cx="45561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endParaRPr lang="en-US" sz="2400">
              <a:solidFill>
                <a:schemeClr val="tx1"/>
              </a:solidFill>
            </a:endParaRPr>
          </a:p>
        </p:txBody>
      </p:sp>
      <p:pic>
        <p:nvPicPr>
          <p:cNvPr id="5" name="Content Placeholder 5" descr="coordplot_r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6960" y="1287780"/>
            <a:ext cx="7227570" cy="532511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67005" y="1504950"/>
            <a:ext cx="448564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B0F0"/>
                </a:solidFill>
              </a:rPr>
              <a:t>Blue Strings = Teams that won in the first round</a:t>
            </a:r>
            <a:endParaRPr lang="en-US" sz="2400">
              <a:solidFill>
                <a:srgbClr val="00B0F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0000"/>
                </a:solidFill>
              </a:rPr>
              <a:t>Red Strings = Teams that lost in the first round.</a:t>
            </a:r>
            <a:endParaRPr 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Coordinates Plot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30835" y="1504950"/>
            <a:ext cx="455612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High correlation between certain descriptive variables and the target (rtwo) can be seen in the chart</a:t>
            </a:r>
            <a:endParaRPr lang="en-US" sz="2400"/>
          </a:p>
          <a:p>
            <a:pPr indent="0">
              <a:buFont typeface="Arial" panose="020B0604020202020204" pitchFamily="34" charset="0"/>
              <a:buNone/>
            </a:pPr>
            <a:endParaRPr lang="en-US" sz="2400">
              <a:solidFill>
                <a:schemeClr val="tx1"/>
              </a:solidFill>
            </a:endParaRPr>
          </a:p>
        </p:txBody>
      </p:sp>
      <p:pic>
        <p:nvPicPr>
          <p:cNvPr id="5" name="Content Placeholder 5" descr="coordplot_r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6960" y="1287780"/>
            <a:ext cx="7227570" cy="53251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Coordinates Plot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30835" y="1504950"/>
            <a:ext cx="455612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High correlation between certain descriptive variables and the target (rtwo) can be seen in the chart</a:t>
            </a: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/>
                </a:solidFill>
              </a:rPr>
              <a:t>Blue clusters show attributes that reflect well on winning Round 1 games</a:t>
            </a:r>
            <a:endParaRPr lang="en-US" sz="2400">
              <a:solidFill>
                <a:schemeClr val="tx1"/>
              </a:solidFill>
            </a:endParaRPr>
          </a:p>
        </p:txBody>
      </p:sp>
      <p:pic>
        <p:nvPicPr>
          <p:cNvPr id="5" name="Content Placeholder 5" descr="coordplot_r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6960" y="1287780"/>
            <a:ext cx="7227570" cy="53251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Coordinates Plot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30835" y="1504950"/>
            <a:ext cx="455612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High correlation between certain descriptive variables and the target (rtwo) can be seen in the chart</a:t>
            </a: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/>
                </a:solidFill>
              </a:rPr>
              <a:t>Blue clusters show attributes that reflect well on winning Round 1 games</a:t>
            </a:r>
            <a:endParaRPr lang="en-US" sz="240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0000"/>
                </a:solidFill>
              </a:rPr>
              <a:t>Red clusters show attributes that are correlated with losing Round 1 games</a:t>
            </a:r>
            <a:endParaRPr lang="en-US" sz="2400">
              <a:solidFill>
                <a:schemeClr val="tx1"/>
              </a:solidFill>
            </a:endParaRPr>
          </a:p>
        </p:txBody>
      </p:sp>
      <p:pic>
        <p:nvPicPr>
          <p:cNvPr id="5" name="Content Placeholder 5" descr="coordplot_r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6960" y="1287780"/>
            <a:ext cx="7227570" cy="53251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Coordinates Plot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30835" y="1504950"/>
            <a:ext cx="455612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High correlation between certain descriptive variables and the target (rtwo) can be seen in the chart</a:t>
            </a: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/>
                </a:solidFill>
              </a:rPr>
              <a:t>Blue clusters show attributes that reflect well on winning Round 1 games</a:t>
            </a:r>
            <a:endParaRPr lang="en-US" sz="240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0000"/>
                </a:solidFill>
              </a:rPr>
              <a:t>Red clusters show attributes that are correlated with losing Round 1 games</a:t>
            </a:r>
            <a:endParaRPr lang="en-US" sz="240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/>
                </a:solidFill>
              </a:rPr>
              <a:t>Mixed clusters show low correlation to the target</a:t>
            </a:r>
            <a:endParaRPr lang="en-US" sz="2400">
              <a:solidFill>
                <a:schemeClr val="tx1"/>
              </a:solidFill>
            </a:endParaRPr>
          </a:p>
        </p:txBody>
      </p:sp>
      <p:pic>
        <p:nvPicPr>
          <p:cNvPr id="5" name="Content Placeholder 5" descr="coordplot_r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6960" y="1287780"/>
            <a:ext cx="7227570" cy="53251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Coordinates Plot</a:t>
            </a:r>
            <a:endParaRPr lang="en-US"/>
          </a:p>
        </p:txBody>
      </p:sp>
      <p:pic>
        <p:nvPicPr>
          <p:cNvPr id="6" name="Content Placeholder 5" descr="coordplot_r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886960" y="1292225"/>
            <a:ext cx="7227570" cy="532511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30835" y="1504950"/>
            <a:ext cx="455612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The same variables that were highly correlated to TW seem to be strong predictors of rtwo:</a:t>
            </a: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B0F0"/>
                </a:solidFill>
              </a:rPr>
              <a:t>Strong positive relationship with AdjEM and AdjSOS</a:t>
            </a:r>
            <a:endParaRPr lang="en-US" sz="240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0000"/>
                </a:solidFill>
              </a:rPr>
              <a:t>Strong negative relationship with AdjD</a:t>
            </a:r>
            <a:endParaRPr lang="en-US" sz="2400">
              <a:solidFill>
                <a:srgbClr val="FF0000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6386195" y="2693035"/>
            <a:ext cx="377190" cy="1142365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7950200" y="2825750"/>
            <a:ext cx="377190" cy="1142365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829425" y="4237355"/>
            <a:ext cx="377190" cy="1326515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386195" y="4238625"/>
            <a:ext cx="377190" cy="1325245"/>
          </a:xfrm>
          <a:prstGeom prst="ellipse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8012430" y="4238625"/>
            <a:ext cx="377190" cy="1325245"/>
          </a:xfrm>
          <a:prstGeom prst="ellipse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829425" y="2387600"/>
            <a:ext cx="377190" cy="1325245"/>
          </a:xfrm>
          <a:prstGeom prst="ellipse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6487795" y="6480175"/>
            <a:ext cx="27559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8063230" y="6480175"/>
            <a:ext cx="27559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880225" y="6480175"/>
            <a:ext cx="27559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PCA Plot</a:t>
            </a:r>
            <a:endParaRPr lang="en-US"/>
          </a:p>
        </p:txBody>
      </p:sp>
      <p:pic>
        <p:nvPicPr>
          <p:cNvPr id="4" name="Content Placeholder 3" descr="pca_plot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79465" y="1198880"/>
            <a:ext cx="5815330" cy="551878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88925" y="1280795"/>
            <a:ext cx="559054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Tries to encapsulate all the descriptive variables in a 2-dimensional space.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Descriptive variable = sweet16</a:t>
            </a:r>
            <a:endParaRPr lang="en-US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PCA Plot</a:t>
            </a:r>
            <a:endParaRPr lang="en-US"/>
          </a:p>
        </p:txBody>
      </p:sp>
      <p:pic>
        <p:nvPicPr>
          <p:cNvPr id="4" name="Content Placeholder 3" descr="pca_plot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79465" y="1198880"/>
            <a:ext cx="5815330" cy="551878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88925" y="1280795"/>
            <a:ext cx="559054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Tries to encapsulate all the descriptive variables in a 2-dimensional space.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Descriptive variable = sweet16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B0F0"/>
                </a:solidFill>
                <a:sym typeface="+mn-ea"/>
              </a:rPr>
              <a:t>Large blue regions mean it is easy to identify Sweet 16 teams</a:t>
            </a:r>
            <a:endParaRPr lang="en-US" sz="2400">
              <a:solidFill>
                <a:srgbClr val="00B0F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PCA Plot</a:t>
            </a:r>
            <a:endParaRPr lang="en-US"/>
          </a:p>
        </p:txBody>
      </p:sp>
      <p:pic>
        <p:nvPicPr>
          <p:cNvPr id="4" name="Content Placeholder 3" descr="pca_plot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79465" y="1198880"/>
            <a:ext cx="5815330" cy="551878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88925" y="1280795"/>
            <a:ext cx="559054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Tries to encapsulate all the descriptive variables in a 2-dimensional space.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Descriptive variable = sweet16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B0F0"/>
                </a:solidFill>
                <a:sym typeface="+mn-ea"/>
              </a:rPr>
              <a:t>Large blue regions mean it is easy to identify Sweet 16 teams</a:t>
            </a:r>
            <a:endParaRPr lang="en-US" sz="2400">
              <a:solidFill>
                <a:srgbClr val="00B0F0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0000"/>
                </a:solidFill>
                <a:sym typeface="+mn-ea"/>
              </a:rPr>
              <a:t>Large red regions mean it is easy to identify non-Sweet 16 teams</a:t>
            </a:r>
            <a:endParaRPr lang="en-US" sz="2400">
              <a:solidFill>
                <a:srgbClr val="00B0F0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rgbClr val="00B0F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PCA Plot</a:t>
            </a:r>
            <a:endParaRPr lang="en-US"/>
          </a:p>
        </p:txBody>
      </p:sp>
      <p:pic>
        <p:nvPicPr>
          <p:cNvPr id="4" name="Content Placeholder 3" descr="pca_plot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79465" y="1198880"/>
            <a:ext cx="5815330" cy="551878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88925" y="1280795"/>
            <a:ext cx="5590540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Tries to encapsulate all the descriptive variables in a 2-dimensional space.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Descriptive variable = sweet16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B0F0"/>
                </a:solidFill>
                <a:sym typeface="+mn-ea"/>
              </a:rPr>
              <a:t>Large blue regions mean it is easy to identify Sweet 16 teams</a:t>
            </a:r>
            <a:endParaRPr lang="en-US" sz="2400">
              <a:solidFill>
                <a:srgbClr val="00B0F0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0000"/>
                </a:solidFill>
                <a:sym typeface="+mn-ea"/>
              </a:rPr>
              <a:t>Large red regions mean it is easy to identify non-Sweet 16 teams</a:t>
            </a:r>
            <a:endParaRPr lang="en-US" sz="2400">
              <a:solidFill>
                <a:srgbClr val="FF0000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ym typeface="+mn-ea"/>
              </a:rPr>
              <a:t>Large mixed regions mean there is a lot of uncertainty in predictions.</a:t>
            </a:r>
            <a:endParaRPr lang="en-US" sz="2400"/>
          </a:p>
          <a:p>
            <a:pPr indent="0">
              <a:buFont typeface="Arial" panose="020B0604020202020204" pitchFamily="34" charset="0"/>
              <a:buNone/>
            </a:pPr>
            <a:endParaRPr lang="en-US" sz="2400">
              <a:solidFill>
                <a:srgbClr val="00B0F0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solidFill>
                <a:srgbClr val="00B0F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4965"/>
            <a:ext cx="10515600" cy="1325563"/>
          </a:xfrm>
        </p:spPr>
        <p:txBody>
          <a:bodyPr/>
          <a:p>
            <a:pPr algn="ctr"/>
            <a:r>
              <a:rPr lang="en-US"/>
              <a:t>PCA Plot</a:t>
            </a:r>
            <a:endParaRPr lang="en-US"/>
          </a:p>
        </p:txBody>
      </p:sp>
      <p:pic>
        <p:nvPicPr>
          <p:cNvPr id="4" name="Content Placeholder 3" descr="pca_plot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79465" y="1198880"/>
            <a:ext cx="5815330" cy="551878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60680" y="1383030"/>
            <a:ext cx="478155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Because there is a </a:t>
            </a:r>
            <a:r>
              <a:rPr lang="en-US" sz="2400" b="1">
                <a:solidFill>
                  <a:schemeClr val="accent1"/>
                </a:solidFill>
              </a:rPr>
              <a:t>small blue</a:t>
            </a:r>
            <a:r>
              <a:rPr lang="en-US" sz="2400"/>
              <a:t> region and a </a:t>
            </a:r>
            <a:r>
              <a:rPr lang="en-US" sz="2400" b="1">
                <a:solidFill>
                  <a:srgbClr val="FF0000"/>
                </a:solidFill>
              </a:rPr>
              <a:t>larger red region</a:t>
            </a:r>
            <a:r>
              <a:rPr lang="en-US" sz="2400"/>
              <a:t>, it can be inferred that </a:t>
            </a:r>
            <a:r>
              <a:rPr lang="en-US" sz="2400" u="sng"/>
              <a:t>it is easier to identify bad teams (losers) than good teams (sweet16 or farther)</a:t>
            </a:r>
            <a:r>
              <a:rPr lang="en-US" sz="2400"/>
              <a:t>. </a:t>
            </a: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The larger overlapping area suggests </a:t>
            </a:r>
            <a:r>
              <a:rPr lang="en-US" sz="2400" u="sng"/>
              <a:t>there is a lot of uncertainty in predicting sweet16 teams</a:t>
            </a:r>
            <a:r>
              <a:rPr lang="en-US" sz="2400"/>
              <a:t>.</a:t>
            </a:r>
            <a:endParaRPr lang="en-US" sz="2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Best Predictors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1424940" y="1811020"/>
          <a:ext cx="9342120" cy="4213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4040"/>
                <a:gridCol w="3114040"/>
                <a:gridCol w="3114040"/>
              </a:tblGrid>
              <a:tr h="7023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Model 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Target Variable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Accuracy</a:t>
                      </a:r>
                      <a:endParaRPr lang="en-US"/>
                    </a:p>
                  </a:txBody>
                  <a:tcPr/>
                </a:tc>
              </a:tr>
              <a:tr h="7023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KNN 11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Round2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77.3%</a:t>
                      </a:r>
                      <a:endParaRPr lang="en-US"/>
                    </a:p>
                  </a:txBody>
                  <a:tcPr/>
                </a:tc>
              </a:tr>
              <a:tr h="7023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KNN 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Elite8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94.2%</a:t>
                      </a:r>
                      <a:endParaRPr lang="en-US"/>
                    </a:p>
                  </a:txBody>
                  <a:tcPr/>
                </a:tc>
              </a:tr>
              <a:tr h="7023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Ripper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Sweet16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83%</a:t>
                      </a:r>
                      <a:endParaRPr lang="en-US"/>
                    </a:p>
                  </a:txBody>
                  <a:tcPr/>
                </a:tc>
              </a:tr>
              <a:tr h="7023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Naive Bayes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TW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48.05%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/>
              <a:t>KNN-11 Round2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361940" cy="4351655"/>
          </a:xfrm>
        </p:spPr>
        <p:txBody>
          <a:bodyPr/>
          <a:p>
            <a:r>
              <a:rPr lang="en-US"/>
              <a:t>Strengths:</a:t>
            </a:r>
            <a:endParaRPr lang="en-US"/>
          </a:p>
          <a:p>
            <a:pPr lvl="1"/>
            <a:r>
              <a:rPr lang="en-US">
                <a:solidFill>
                  <a:schemeClr val="tx1"/>
                </a:solidFill>
                <a:highlight>
                  <a:srgbClr val="00FFFF"/>
                </a:highlight>
              </a:rPr>
              <a:t>Good class balance, balanced accuracy</a:t>
            </a:r>
            <a:endParaRPr lang="en-US">
              <a:solidFill>
                <a:schemeClr val="tx1"/>
              </a:solidFill>
              <a:highlight>
                <a:srgbClr val="00FFFF"/>
              </a:highlight>
            </a:endParaRPr>
          </a:p>
          <a:p>
            <a:pPr lvl="1"/>
            <a:r>
              <a:rPr lang="en-US">
                <a:highlight>
                  <a:srgbClr val="00FF00"/>
                </a:highlight>
              </a:rPr>
              <a:t>Much better than random guess</a:t>
            </a:r>
            <a:endParaRPr lang="en-US">
              <a:highlight>
                <a:srgbClr val="00FF00"/>
              </a:highlight>
            </a:endParaRPr>
          </a:p>
          <a:p>
            <a:r>
              <a:rPr lang="en-US"/>
              <a:t>Weaknesses:</a:t>
            </a:r>
            <a:endParaRPr lang="en-US"/>
          </a:p>
          <a:p>
            <a:pPr lvl="1"/>
            <a:r>
              <a:rPr lang="en-US"/>
              <a:t>Not exceptional</a:t>
            </a:r>
            <a:endParaRPr lang="en-US"/>
          </a:p>
          <a:p>
            <a:pPr lvl="1"/>
            <a:endParaRPr lang="en-US"/>
          </a:p>
        </p:txBody>
      </p:sp>
      <p:pic>
        <p:nvPicPr>
          <p:cNvPr id="4" name="Picture 3" descr="KNN11_resul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2865" y="1421130"/>
            <a:ext cx="4050665" cy="5351780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6200140" y="1421130"/>
            <a:ext cx="4476115" cy="534987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95000"/>
                    <a:lumOff val="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6644005" y="2647950"/>
            <a:ext cx="3588385" cy="897255"/>
          </a:xfrm>
          <a:prstGeom prst="roundRect">
            <a:avLst/>
          </a:prstGeom>
          <a:noFill/>
          <a:ln w="3810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6644640" y="5794375"/>
            <a:ext cx="2691130" cy="476885"/>
          </a:xfrm>
          <a:prstGeom prst="roundRect">
            <a:avLst/>
          </a:prstGeom>
          <a:noFill/>
          <a:ln w="3810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542530" y="5361305"/>
            <a:ext cx="1793240" cy="232410"/>
          </a:xfrm>
          <a:prstGeom prst="roundRect">
            <a:avLst/>
          </a:prstGeom>
          <a:noFill/>
          <a:ln w="3810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/>
              <a:t>KNN-3 Elite8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921885" cy="4351655"/>
          </a:xfrm>
        </p:spPr>
        <p:txBody>
          <a:bodyPr/>
          <a:p>
            <a:r>
              <a:rPr lang="en-US"/>
              <a:t>Strengths:</a:t>
            </a:r>
            <a:endParaRPr lang="en-US"/>
          </a:p>
          <a:p>
            <a:pPr lvl="1"/>
            <a:r>
              <a:rPr lang="en-US">
                <a:highlight>
                  <a:srgbClr val="00FFFF"/>
                </a:highlight>
              </a:rPr>
              <a:t>Excellent accuracy and balanced accuracy</a:t>
            </a:r>
            <a:endParaRPr lang="en-US">
              <a:highlight>
                <a:srgbClr val="00FF00"/>
              </a:highlight>
            </a:endParaRPr>
          </a:p>
          <a:p>
            <a:r>
              <a:rPr lang="en-US"/>
              <a:t>Weaknesses:</a:t>
            </a:r>
            <a:endParaRPr lang="en-US"/>
          </a:p>
          <a:p>
            <a:pPr lvl="1"/>
            <a:r>
              <a:rPr lang="en-US">
                <a:solidFill>
                  <a:schemeClr val="bg1"/>
                </a:solidFill>
                <a:highlight>
                  <a:srgbClr val="000080"/>
                </a:highlight>
              </a:rPr>
              <a:t>Slight class imbalance issue</a:t>
            </a:r>
            <a:endParaRPr lang="en-US">
              <a:solidFill>
                <a:schemeClr val="bg1"/>
              </a:solidFill>
              <a:highlight>
                <a:srgbClr val="000080"/>
              </a:highlight>
            </a:endParaRPr>
          </a:p>
          <a:p>
            <a:pPr lvl="1"/>
            <a:r>
              <a:rPr lang="en-US">
                <a:highlight>
                  <a:srgbClr val="FF0000"/>
                </a:highlight>
                <a:sym typeface="+mn-ea"/>
              </a:rPr>
              <a:t>Despite high accuracy, correctly identifies only 57% of Elite 8 teams</a:t>
            </a:r>
            <a:endParaRPr lang="en-US">
              <a:highlight>
                <a:srgbClr val="FF0000"/>
              </a:highlight>
              <a:sym typeface="+mn-ea"/>
            </a:endParaRPr>
          </a:p>
          <a:p>
            <a:pPr marL="457200" lvl="1" indent="0">
              <a:buNone/>
            </a:pPr>
            <a:endParaRPr lang="en-US"/>
          </a:p>
          <a:p>
            <a:pPr lvl="1"/>
            <a:endParaRPr lang="en-US"/>
          </a:p>
        </p:txBody>
      </p:sp>
      <p:sp>
        <p:nvSpPr>
          <p:cNvPr id="5" name="Rectangles 4"/>
          <p:cNvSpPr/>
          <p:nvPr/>
        </p:nvSpPr>
        <p:spPr>
          <a:xfrm>
            <a:off x="6200140" y="1421130"/>
            <a:ext cx="4476115" cy="534987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95000"/>
                    <a:lumOff val="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6" name="Picture 5" descr="KNN3_resul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4280" y="1588135"/>
            <a:ext cx="4267200" cy="50165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72045" y="2671445"/>
            <a:ext cx="1654175" cy="232410"/>
          </a:xfrm>
          <a:prstGeom prst="roundRect">
            <a:avLst/>
          </a:prstGeom>
          <a:noFill/>
          <a:ln w="3810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379335" y="5262245"/>
            <a:ext cx="1654175" cy="232410"/>
          </a:xfrm>
          <a:prstGeom prst="roundRect">
            <a:avLst/>
          </a:prstGeom>
          <a:noFill/>
          <a:ln w="38100"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0206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285990" y="4651375"/>
            <a:ext cx="1840230" cy="23241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562725" y="5908040"/>
            <a:ext cx="2563495" cy="233045"/>
          </a:xfrm>
          <a:prstGeom prst="roundRect">
            <a:avLst/>
          </a:prstGeom>
          <a:noFill/>
          <a:ln w="3810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highlight>
                <a:srgbClr val="00FFFF"/>
              </a:highligh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62725" y="5721350"/>
            <a:ext cx="2470150" cy="151765"/>
          </a:xfrm>
          <a:prstGeom prst="roundRect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/>
              <a:t>Ripper Sweet16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921885" cy="4351655"/>
          </a:xfrm>
        </p:spPr>
        <p:txBody>
          <a:bodyPr>
            <a:normAutofit/>
          </a:bodyPr>
          <a:p>
            <a:r>
              <a:rPr lang="en-US"/>
              <a:t>Strengths:</a:t>
            </a:r>
            <a:endParaRPr lang="en-US"/>
          </a:p>
          <a:p>
            <a:pPr lvl="1"/>
            <a:r>
              <a:rPr lang="en-US">
                <a:highlight>
                  <a:srgbClr val="00FFFF"/>
                </a:highlight>
              </a:rPr>
              <a:t>Excellent accuracy</a:t>
            </a:r>
            <a:endParaRPr lang="en-US">
              <a:highlight>
                <a:srgbClr val="00FFFF"/>
              </a:highlight>
            </a:endParaRPr>
          </a:p>
          <a:p>
            <a:pPr lvl="1"/>
            <a:r>
              <a:rPr lang="en-US">
                <a:highlight>
                  <a:srgbClr val="00FFFF"/>
                </a:highlight>
              </a:rPr>
              <a:t>Very good balanced accuracy</a:t>
            </a:r>
            <a:endParaRPr lang="en-US">
              <a:highlight>
                <a:srgbClr val="00FFFF"/>
              </a:highlight>
            </a:endParaRPr>
          </a:p>
          <a:p>
            <a:pPr lvl="1"/>
            <a:r>
              <a:rPr lang="en-US">
                <a:highlight>
                  <a:srgbClr val="00FF00"/>
                </a:highlight>
              </a:rPr>
              <a:t>Good class balance</a:t>
            </a:r>
            <a:endParaRPr lang="en-US">
              <a:highlight>
                <a:srgbClr val="00FF00"/>
              </a:highlight>
            </a:endParaRPr>
          </a:p>
          <a:p>
            <a:pPr lvl="1"/>
            <a:r>
              <a:rPr lang="en-US">
                <a:highlight>
                  <a:srgbClr val="FF00FF"/>
                </a:highlight>
              </a:rPr>
              <a:t>Correctly identifies 75% of sweet 16 teams</a:t>
            </a:r>
            <a:endParaRPr lang="en-US">
              <a:highlight>
                <a:srgbClr val="FF00FF"/>
              </a:highlight>
            </a:endParaRPr>
          </a:p>
          <a:p>
            <a:r>
              <a:rPr lang="en-US"/>
              <a:t>Weaknesses:</a:t>
            </a:r>
            <a:endParaRPr lang="en-US"/>
          </a:p>
          <a:p>
            <a:pPr lvl="1"/>
            <a:r>
              <a:rPr lang="en-US" sz="2400"/>
              <a:t>No specific weakness</a:t>
            </a:r>
            <a:endParaRPr lang="en-US"/>
          </a:p>
          <a:p>
            <a:pPr lvl="1"/>
            <a:endParaRPr lang="en-US"/>
          </a:p>
        </p:txBody>
      </p:sp>
      <p:sp>
        <p:nvSpPr>
          <p:cNvPr id="5" name="Rectangles 4"/>
          <p:cNvSpPr/>
          <p:nvPr/>
        </p:nvSpPr>
        <p:spPr>
          <a:xfrm>
            <a:off x="6200140" y="1421130"/>
            <a:ext cx="4476115" cy="534987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95000"/>
                    <a:lumOff val="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6" name="Picture 5" descr="Ripper16_resul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0650" y="1574800"/>
            <a:ext cx="3924300" cy="50419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80960" y="2705735"/>
            <a:ext cx="1503680" cy="210185"/>
          </a:xfrm>
          <a:prstGeom prst="roundRect">
            <a:avLst/>
          </a:prstGeom>
          <a:noFill/>
          <a:ln w="28575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459980" y="5292090"/>
            <a:ext cx="1724660" cy="210185"/>
          </a:xfrm>
          <a:prstGeom prst="roundRect">
            <a:avLst/>
          </a:prstGeom>
          <a:noFill/>
          <a:ln w="28575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690360" y="5662295"/>
            <a:ext cx="2494280" cy="210185"/>
          </a:xfrm>
          <a:prstGeom prst="roundRect">
            <a:avLst/>
          </a:prstGeom>
          <a:noFill/>
          <a:ln w="28575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47840" y="5872480"/>
            <a:ext cx="2342515" cy="210185"/>
          </a:xfrm>
          <a:prstGeom prst="roundRect">
            <a:avLst/>
          </a:prstGeom>
          <a:noFill/>
          <a:ln w="28575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7390130" y="4711700"/>
            <a:ext cx="1794510" cy="210185"/>
          </a:xfrm>
          <a:prstGeom prst="roundRect">
            <a:avLst/>
          </a:prstGeom>
          <a:noFill/>
          <a:ln w="28575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/>
              <a:t>Naive Bayes TW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921885" cy="4351655"/>
          </a:xfrm>
        </p:spPr>
        <p:txBody>
          <a:bodyPr>
            <a:normAutofit lnSpcReduction="10000"/>
          </a:bodyPr>
          <a:p>
            <a:r>
              <a:rPr lang="en-US"/>
              <a:t>Strengths:</a:t>
            </a:r>
            <a:endParaRPr lang="en-US"/>
          </a:p>
          <a:p>
            <a:pPr lvl="1"/>
            <a:r>
              <a:rPr lang="en-US"/>
              <a:t>Most mistakes are local (off by 1 game)</a:t>
            </a:r>
            <a:endParaRPr lang="en-US"/>
          </a:p>
          <a:p>
            <a:pPr lvl="1"/>
            <a:r>
              <a:rPr lang="en-US"/>
              <a:t>Best TW model</a:t>
            </a:r>
            <a:endParaRPr lang="en-US"/>
          </a:p>
          <a:p>
            <a:r>
              <a:rPr lang="en-US"/>
              <a:t>Weaknesses:</a:t>
            </a:r>
            <a:endParaRPr lang="en-US"/>
          </a:p>
          <a:p>
            <a:pPr lvl="1"/>
            <a:r>
              <a:rPr lang="en-US">
                <a:highlight>
                  <a:srgbClr val="FF0000"/>
                </a:highlight>
              </a:rPr>
              <a:t>Terrible overall accuracy</a:t>
            </a:r>
            <a:endParaRPr lang="en-US">
              <a:highlight>
                <a:srgbClr val="FF0000"/>
              </a:highlight>
            </a:endParaRPr>
          </a:p>
          <a:p>
            <a:pPr lvl="1"/>
            <a:r>
              <a:rPr lang="en-US">
                <a:solidFill>
                  <a:schemeClr val="bg1"/>
                </a:solidFill>
                <a:highlight>
                  <a:srgbClr val="000080"/>
                </a:highlight>
              </a:rPr>
              <a:t>No teams with 4+ wins are even close to correctly identified.</a:t>
            </a:r>
            <a:endParaRPr lang="en-US">
              <a:solidFill>
                <a:schemeClr val="bg1"/>
              </a:solidFill>
              <a:highlight>
                <a:srgbClr val="000080"/>
              </a:highlight>
            </a:endParaRPr>
          </a:p>
          <a:p>
            <a:pPr lvl="1"/>
            <a:r>
              <a:rPr lang="en-US">
                <a:solidFill>
                  <a:schemeClr val="bg1"/>
                </a:solidFill>
                <a:highlight>
                  <a:srgbClr val="800000"/>
                </a:highlight>
              </a:rPr>
              <a:t>Class imbalance</a:t>
            </a:r>
            <a:endParaRPr lang="en-US">
              <a:solidFill>
                <a:schemeClr val="bg1"/>
              </a:solidFill>
              <a:highlight>
                <a:srgbClr val="800000"/>
              </a:highlight>
            </a:endParaRPr>
          </a:p>
          <a:p>
            <a:pPr lvl="1"/>
            <a:r>
              <a:rPr lang="en-US">
                <a:solidFill>
                  <a:schemeClr val="bg1"/>
                </a:solidFill>
                <a:highlight>
                  <a:srgbClr val="008080"/>
                </a:highlight>
              </a:rPr>
              <a:t>No error reduction</a:t>
            </a:r>
            <a:endParaRPr lang="en-US">
              <a:solidFill>
                <a:schemeClr val="bg1"/>
              </a:solidFill>
              <a:highlight>
                <a:srgbClr val="008080"/>
              </a:highlight>
            </a:endParaRP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  <p:sp>
        <p:nvSpPr>
          <p:cNvPr id="5" name="Rectangles 4"/>
          <p:cNvSpPr/>
          <p:nvPr/>
        </p:nvSpPr>
        <p:spPr>
          <a:xfrm>
            <a:off x="6027420" y="192405"/>
            <a:ext cx="5326380" cy="657860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95000"/>
                    <a:lumOff val="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6" name="Picture 5" descr="NB_TW_resul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165" y="325755"/>
            <a:ext cx="4580890" cy="63112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 rot="5400000">
            <a:off x="8952230" y="1708150"/>
            <a:ext cx="596265" cy="852805"/>
          </a:xfrm>
          <a:prstGeom prst="roundRect">
            <a:avLst/>
          </a:prstGeom>
          <a:noFill/>
          <a:ln w="28575"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6761480" y="4718685"/>
            <a:ext cx="3845560" cy="22034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 rot="5400000">
            <a:off x="9490075" y="3822065"/>
            <a:ext cx="1782445" cy="4508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400165" y="5248275"/>
            <a:ext cx="1316355" cy="22034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400165" y="6404610"/>
            <a:ext cx="2203450" cy="220345"/>
          </a:xfrm>
          <a:prstGeom prst="round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Predictions: Top Teams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7565" y="1487805"/>
          <a:ext cx="1051623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96"/>
                <a:gridCol w="873760"/>
                <a:gridCol w="992505"/>
                <a:gridCol w="1329055"/>
                <a:gridCol w="924560"/>
                <a:gridCol w="2359660"/>
                <a:gridCol w="2229299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Team Name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Seed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KNN32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Ripper16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KNN8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Naive Bayes TW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Total Score*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Florida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1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</a:t>
                      </a:r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Duke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1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</a:t>
                      </a:r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>
                          <a:latin typeface="Arial Bold" panose="020B0604020202020204" charset="0"/>
                          <a:cs typeface="Arial Bold" panose="020B0604020202020204" charset="0"/>
                        </a:rPr>
                        <a:t>Houston</a:t>
                      </a:r>
                      <a:endParaRPr lang="en-US" b="0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>
                          <a:latin typeface="Arial Bold" panose="020B0604020202020204" charset="0"/>
                          <a:cs typeface="Arial Bold" panose="020B0604020202020204" charset="0"/>
                        </a:rPr>
                        <a:t>1</a:t>
                      </a:r>
                      <a:endParaRPr lang="en-US" b="0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1.333</a:t>
                      </a:r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Alabama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2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1.167</a:t>
                      </a:r>
                      <a:endParaRPr lang="en-US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838200" y="3730625"/>
            <a:ext cx="71824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*Total Score = 1/6*KNN32 + 1/3*Ripper16 + 1/2*KNN8 + 1/6*NBTW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279400" y="4454525"/>
            <a:ext cx="116433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Florida and Duke are the biggest favorites based on the results of these models.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Houston and Alabama are other teams that could contend.</a:t>
            </a:r>
            <a:endParaRPr lang="en-US"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Predictions: Sleepers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452245"/>
          <a:ext cx="10861040" cy="2271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265"/>
                <a:gridCol w="789305"/>
                <a:gridCol w="1156970"/>
                <a:gridCol w="1315085"/>
                <a:gridCol w="975360"/>
                <a:gridCol w="2286000"/>
                <a:gridCol w="247205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Team Name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Seed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KNN32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Ripper16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KNN8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Naive Bayes TW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Total Score*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Illinois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6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663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Arizona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4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>
                          <a:latin typeface="Arial Bold" panose="020B0604020202020204" charset="0"/>
                          <a:cs typeface="Arial Bold" panose="020B0604020202020204" charset="0"/>
                        </a:rPr>
                        <a:t>Gonzaga</a:t>
                      </a:r>
                      <a:endParaRPr lang="en-US" b="0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>
                          <a:latin typeface="Arial Bold" panose="020B0604020202020204" charset="0"/>
                          <a:cs typeface="Arial Bold" panose="020B0604020202020204" charset="0"/>
                        </a:rPr>
                        <a:t>8</a:t>
                      </a:r>
                      <a:endParaRPr lang="en-US" b="0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0.833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BYU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6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0.833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VCU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11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0.333</a:t>
                      </a:r>
                      <a:endParaRPr lang="en-US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93980" y="4548505"/>
            <a:ext cx="116052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Illinois and Arizona are tied for the 5th highest scores suggesting they could make a deep run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Gonzaga and BYU are lower seeds that could make deeper runs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VCU has the highest score among double-digit seeds</a:t>
            </a:r>
            <a:endParaRPr lang="en-US" sz="2400"/>
          </a:p>
        </p:txBody>
      </p:sp>
      <p:sp>
        <p:nvSpPr>
          <p:cNvPr id="10" name="Text Box 9"/>
          <p:cNvSpPr txBox="1"/>
          <p:nvPr/>
        </p:nvSpPr>
        <p:spPr>
          <a:xfrm>
            <a:off x="838200" y="3989705"/>
            <a:ext cx="91725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*Total Score = 1/6*KNN32 + 1/3*Ripper16 + 1/2*KNN8 + 1/6*NBTW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4160"/>
            <a:ext cx="10515600" cy="1325563"/>
          </a:xfrm>
        </p:spPr>
        <p:txBody>
          <a:bodyPr/>
          <a:p>
            <a:pPr algn="ctr"/>
            <a:r>
              <a:rPr lang="en-US"/>
              <a:t>Predictions: Most Likely to be Upset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336675"/>
          <a:ext cx="10515600" cy="3077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210"/>
                <a:gridCol w="763905"/>
                <a:gridCol w="1120140"/>
                <a:gridCol w="1273175"/>
                <a:gridCol w="944245"/>
                <a:gridCol w="2213610"/>
                <a:gridCol w="23933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Team Name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Seed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KNN32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Ripper16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KNN8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Naive Bayes TW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Total Score*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Memphis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5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Texas A&amp;M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4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0.333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>
                          <a:latin typeface="Arial Bold" panose="020B0604020202020204" charset="0"/>
                          <a:cs typeface="Arial Bold" panose="020B0604020202020204" charset="0"/>
                        </a:rPr>
                        <a:t>Oregon</a:t>
                      </a:r>
                      <a:endParaRPr lang="en-US" b="0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>
                          <a:latin typeface="Arial Bold" panose="020B0604020202020204" charset="0"/>
                          <a:cs typeface="Arial Bold" panose="020B0604020202020204" charset="0"/>
                        </a:rPr>
                        <a:t>5</a:t>
                      </a:r>
                      <a:endParaRPr lang="en-US" b="0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0.333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Ole Miss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6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0.333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56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Michigan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5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0.5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956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Missouri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6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0.5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Wisconsin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3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0.667</a:t>
                      </a:r>
                      <a:endParaRPr lang="en-US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401955" y="4902200"/>
            <a:ext cx="1095184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Memphis is the only top 6 seed with a score of 0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Texas A&amp;M, Oregon, Ole Miss, Michigan and Missouri are higher seeds that could lose early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Wisconsin has the lowest score among top 4 seeds. </a:t>
            </a:r>
            <a:endParaRPr lang="en-US" sz="2400"/>
          </a:p>
        </p:txBody>
      </p:sp>
      <p:sp>
        <p:nvSpPr>
          <p:cNvPr id="6" name="Text Box 5"/>
          <p:cNvSpPr txBox="1"/>
          <p:nvPr/>
        </p:nvSpPr>
        <p:spPr>
          <a:xfrm>
            <a:off x="838200" y="4533900"/>
            <a:ext cx="70777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sym typeface="+mn-ea"/>
              </a:rPr>
              <a:t>*Total Score = 1/6*KNN32 + 1/3*Ripper16 + 1/2*KNN8 + 1/6*NBTW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solidFill>
                  <a:schemeClr val="bg1"/>
                </a:solidFill>
              </a:rPr>
              <a:t>Matchup Dataset Analysis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Content Placeholder 3" descr="tipoff2"/>
          <p:cNvPicPr>
            <a:picLocks noChangeAspect="1"/>
          </p:cNvPicPr>
          <p:nvPr>
            <p:ph idx="1"/>
          </p:nvPr>
        </p:nvPicPr>
        <p:blipFill>
          <a:blip r:embed="rId1"/>
          <a:srcRect t="10813"/>
          <a:stretch>
            <a:fillRect/>
          </a:stretch>
        </p:blipFill>
        <p:spPr>
          <a:xfrm>
            <a:off x="1956435" y="1691005"/>
            <a:ext cx="8279130" cy="492569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Data Description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326390" y="1481455"/>
          <a:ext cx="1144397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2280"/>
                <a:gridCol w="4698365"/>
                <a:gridCol w="1005840"/>
                <a:gridCol w="987425"/>
                <a:gridCol w="981075"/>
                <a:gridCol w="1020445"/>
                <a:gridCol w="101854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Variable 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Variable Description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Min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Max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Mean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SD</a:t>
                      </a: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Team 1 win or loss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AdjEMdiff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Adjusted Efficiency Margin Difference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530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AdjOdiff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Adjusted Offensive Efficiency Difference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AdjDdiff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Adjusted Deffensive Efficiency Difference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SeedDiff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Seed Difference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pmDiff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Possession Margin Difference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AdjSOSdiff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Adjusted Strength of Schedule Difference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TempoDiff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Adjusted Tempo Difference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LuckDIff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Luck Difference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RbpDiff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Rebound Percentage Difference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3parDiff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 Point Attempt Rate Difference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Data Description Continued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/>
              <a:t>All variables with “Difference” in their description take the average season statistics of a given team and subtract it by their opponent’s.</a:t>
            </a:r>
            <a:endParaRPr lang="en-US"/>
          </a:p>
          <a:p>
            <a:pPr lvl="1"/>
            <a:r>
              <a:rPr lang="en-US"/>
              <a:t>Ex: Team 1 had an AdjEM of 30 during the regular season, while their first round opponent Team 2, had an AdjEM of 26.</a:t>
            </a:r>
            <a:endParaRPr lang="en-US"/>
          </a:p>
          <a:p>
            <a:pPr lvl="1"/>
            <a:r>
              <a:rPr lang="en-US"/>
              <a:t>The AdjEMdiff = 4</a:t>
            </a:r>
            <a:endParaRPr lang="en-US"/>
          </a:p>
          <a:p>
            <a:r>
              <a:rPr lang="en-US"/>
              <a:t>The higher seed was placed as Team1 50% of the time to try to even out the class balance of the binary W variable.</a:t>
            </a:r>
            <a:endParaRPr lang="en-US"/>
          </a:p>
          <a:p>
            <a:pPr lvl="1"/>
            <a:r>
              <a:rPr lang="en-US" sz="2400"/>
              <a:t>If Team 1 wins, W = 1. </a:t>
            </a:r>
            <a:endParaRPr lang="en-US" sz="2400"/>
          </a:p>
          <a:p>
            <a:pPr lvl="1"/>
            <a:r>
              <a:rPr lang="en-US" sz="2400"/>
              <a:t>If Team 2 wins, W = 0. </a:t>
            </a:r>
            <a:endParaRPr lang="en-US"/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pPr algn="ctr"/>
            <a:r>
              <a:rPr lang="en-US"/>
              <a:t>Correlation Plot</a:t>
            </a:r>
            <a:endParaRPr lang="en-US"/>
          </a:p>
        </p:txBody>
      </p:sp>
      <p:pic>
        <p:nvPicPr>
          <p:cNvPr id="6" name="Content Placeholder 5" descr="matchup_corrplot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36925" y="1031240"/>
            <a:ext cx="5518150" cy="5737225"/>
          </a:xfrm>
          <a:prstGeom prst="rect">
            <a:avLst/>
          </a:prstGeom>
        </p:spPr>
      </p:pic>
      <p:sp>
        <p:nvSpPr>
          <p:cNvPr id="7" name="Rectangles 6"/>
          <p:cNvSpPr/>
          <p:nvPr/>
        </p:nvSpPr>
        <p:spPr>
          <a:xfrm>
            <a:off x="3187700" y="1325245"/>
            <a:ext cx="5826125" cy="52197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pPr algn="ctr"/>
            <a:r>
              <a:rPr lang="en-US"/>
              <a:t>Correlation Plot</a:t>
            </a:r>
            <a:endParaRPr lang="en-US"/>
          </a:p>
        </p:txBody>
      </p:sp>
      <p:pic>
        <p:nvPicPr>
          <p:cNvPr id="6" name="Content Placeholder 5" descr="matchup_corrplot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36925" y="1031240"/>
            <a:ext cx="5518150" cy="5737225"/>
          </a:xfrm>
          <a:prstGeom prst="rect">
            <a:avLst/>
          </a:prstGeom>
        </p:spPr>
      </p:pic>
      <p:sp>
        <p:nvSpPr>
          <p:cNvPr id="7" name="Rectangles 6"/>
          <p:cNvSpPr/>
          <p:nvPr/>
        </p:nvSpPr>
        <p:spPr>
          <a:xfrm>
            <a:off x="3187700" y="1325245"/>
            <a:ext cx="5826125" cy="52197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08635" y="1603375"/>
            <a:ext cx="296735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A few highly correlated descriptive variables again</a:t>
            </a:r>
            <a:endParaRPr lang="en-US" sz="2400"/>
          </a:p>
        </p:txBody>
      </p:sp>
      <p:sp>
        <p:nvSpPr>
          <p:cNvPr id="5" name="Rounded Rectangle 4"/>
          <p:cNvSpPr/>
          <p:nvPr/>
        </p:nvSpPr>
        <p:spPr>
          <a:xfrm>
            <a:off x="4332605" y="2520950"/>
            <a:ext cx="1529080" cy="13557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548255" y="2449195"/>
            <a:ext cx="1631315" cy="59182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p>
            <a:pPr algn="ctr"/>
            <a:r>
              <a:rPr lang="en-US"/>
              <a:t>Correlation Plot</a:t>
            </a:r>
            <a:endParaRPr lang="en-US"/>
          </a:p>
        </p:txBody>
      </p:sp>
      <p:pic>
        <p:nvPicPr>
          <p:cNvPr id="6" name="Content Placeholder 5" descr="matchup_corrplot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36925" y="1031240"/>
            <a:ext cx="5518150" cy="5737225"/>
          </a:xfrm>
          <a:prstGeom prst="rect">
            <a:avLst/>
          </a:prstGeom>
        </p:spPr>
      </p:pic>
      <p:sp>
        <p:nvSpPr>
          <p:cNvPr id="7" name="Rectangles 6"/>
          <p:cNvSpPr/>
          <p:nvPr/>
        </p:nvSpPr>
        <p:spPr>
          <a:xfrm>
            <a:off x="3187700" y="1325245"/>
            <a:ext cx="5826125" cy="52197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08635" y="1603375"/>
            <a:ext cx="296735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A few highly correlated descriptive variables again</a:t>
            </a:r>
            <a:endParaRPr lang="en-US" sz="2400"/>
          </a:p>
        </p:txBody>
      </p:sp>
      <p:sp>
        <p:nvSpPr>
          <p:cNvPr id="5" name="Rounded Rectangle 4"/>
          <p:cNvSpPr/>
          <p:nvPr/>
        </p:nvSpPr>
        <p:spPr>
          <a:xfrm>
            <a:off x="4332605" y="2520950"/>
            <a:ext cx="1529080" cy="1355725"/>
          </a:xfrm>
          <a:prstGeom prst="roundRect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548255" y="2449195"/>
            <a:ext cx="1631315" cy="59182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860030" y="4467225"/>
            <a:ext cx="448945" cy="694055"/>
          </a:xfrm>
          <a:prstGeom prst="round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860030" y="5471160"/>
            <a:ext cx="448945" cy="387350"/>
          </a:xfrm>
          <a:prstGeom prst="round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860030" y="3876675"/>
            <a:ext cx="448945" cy="387350"/>
          </a:xfrm>
          <a:prstGeom prst="round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8400415" y="3611880"/>
            <a:ext cx="1111885" cy="196786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8410575" y="3611880"/>
            <a:ext cx="1091565" cy="114173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8416925" y="3611880"/>
            <a:ext cx="1085215" cy="52197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15"/>
          <p:cNvSpPr txBox="1"/>
          <p:nvPr/>
        </p:nvSpPr>
        <p:spPr>
          <a:xfrm>
            <a:off x="9610090" y="2520950"/>
            <a:ext cx="247777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Several variables with negligable correlation to target</a:t>
            </a:r>
            <a:endParaRPr lang="en-US" sz="2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Feature Selection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pmDiff, TempoDiff, LuckDiff, and 3parDiff were all dropped due to low correlation to the target variable.</a:t>
            </a:r>
            <a:endParaRPr lang="en-US"/>
          </a:p>
          <a:p>
            <a:endParaRPr lang="en-US"/>
          </a:p>
          <a:p>
            <a:r>
              <a:rPr lang="en-US"/>
              <a:t>Several highly intercorrelated variables were kept, mainly to try to prevent information loss, as all had high correlation to the target.</a:t>
            </a:r>
            <a:endParaRPr lang="en-US"/>
          </a:p>
          <a:p>
            <a:endParaRPr lang="en-US"/>
          </a:p>
          <a:p>
            <a:r>
              <a:rPr lang="en-US"/>
              <a:t>All data was once again standardized to have mean = 0 and standard deviation = 1.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455" y="20320"/>
            <a:ext cx="10515600" cy="1325563"/>
          </a:xfrm>
        </p:spPr>
        <p:txBody>
          <a:bodyPr/>
          <a:p>
            <a:pPr algn="l"/>
            <a:r>
              <a:rPr lang="en-US"/>
              <a:t>Coordinates Plot</a:t>
            </a:r>
            <a:endParaRPr lang="en-US"/>
          </a:p>
        </p:txBody>
      </p:sp>
      <p:pic>
        <p:nvPicPr>
          <p:cNvPr id="4" name="Content Placeholder 3" descr="pca_matchup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49115" y="985520"/>
            <a:ext cx="7652385" cy="568388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52400" y="1073150"/>
            <a:ext cx="38233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All variables seem to show a strong relation to the target variable</a:t>
            </a:r>
            <a:endParaRPr lang="en-US" sz="2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630" y="24765"/>
            <a:ext cx="10515600" cy="1325563"/>
          </a:xfrm>
        </p:spPr>
        <p:txBody>
          <a:bodyPr/>
          <a:p>
            <a:pPr algn="l"/>
            <a:r>
              <a:rPr lang="en-US"/>
              <a:t>Coordinates Plot</a:t>
            </a:r>
            <a:endParaRPr lang="en-US"/>
          </a:p>
        </p:txBody>
      </p:sp>
      <p:pic>
        <p:nvPicPr>
          <p:cNvPr id="4" name="Content Placeholder 3" descr="pca_matchup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49115" y="985520"/>
            <a:ext cx="7652385" cy="568388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52400" y="1073150"/>
            <a:ext cx="382333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All variables seem to show a strong relation to the target variable</a:t>
            </a: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B0F0"/>
                </a:solidFill>
              </a:rPr>
              <a:t>Positive:</a:t>
            </a:r>
            <a:endParaRPr lang="en-US" sz="2400">
              <a:solidFill>
                <a:srgbClr val="00B0F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B0F0"/>
                </a:solidFill>
              </a:rPr>
              <a:t>AdjEMdiff</a:t>
            </a:r>
            <a:endParaRPr lang="en-US" sz="2400">
              <a:solidFill>
                <a:srgbClr val="00B0F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B0F0"/>
                </a:solidFill>
              </a:rPr>
              <a:t>AdjOdiff</a:t>
            </a:r>
            <a:endParaRPr lang="en-US" sz="2400">
              <a:solidFill>
                <a:srgbClr val="00B0F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B0F0"/>
                </a:solidFill>
              </a:rPr>
              <a:t>AdjSOSdiff</a:t>
            </a:r>
            <a:endParaRPr lang="en-US" sz="240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0000"/>
                </a:solidFill>
              </a:rPr>
              <a:t>Negative:</a:t>
            </a:r>
            <a:endParaRPr lang="en-US" sz="240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0000"/>
                </a:solidFill>
              </a:rPr>
              <a:t>AdjDdiff</a:t>
            </a:r>
            <a:endParaRPr lang="en-US" sz="240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0000"/>
                </a:solidFill>
              </a:rPr>
              <a:t>SeedDiff</a:t>
            </a:r>
            <a:endParaRPr lang="en-US" sz="240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FF0000"/>
                </a:solidFill>
              </a:rPr>
              <a:t>RbpDiff</a:t>
            </a:r>
            <a:endParaRPr lang="en-US" sz="2400">
              <a:solidFill>
                <a:srgbClr val="FF0000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5351780" y="1419860"/>
            <a:ext cx="1452245" cy="1998345"/>
          </a:xfrm>
          <a:prstGeom prst="ellipse">
            <a:avLst/>
          </a:prstGeom>
          <a:noFill/>
          <a:ln w="5715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7099935" y="3952875"/>
            <a:ext cx="1559560" cy="1998345"/>
          </a:xfrm>
          <a:prstGeom prst="ellipse">
            <a:avLst/>
          </a:prstGeom>
          <a:noFill/>
          <a:ln w="5715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808085" y="1532255"/>
            <a:ext cx="1355725" cy="1998345"/>
          </a:xfrm>
          <a:prstGeom prst="ellipse">
            <a:avLst/>
          </a:prstGeom>
          <a:noFill/>
          <a:ln w="5715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0224770" y="3632200"/>
            <a:ext cx="632460" cy="1998345"/>
          </a:xfrm>
          <a:prstGeom prst="ellipse">
            <a:avLst/>
          </a:prstGeom>
          <a:noFill/>
          <a:ln w="5715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448300" y="3632200"/>
            <a:ext cx="1355725" cy="199834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012940" y="1350645"/>
            <a:ext cx="1604010" cy="199834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8808085" y="3712210"/>
            <a:ext cx="1355725" cy="199834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0163810" y="1633855"/>
            <a:ext cx="632460" cy="199834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PCA Plot</a:t>
            </a:r>
            <a:endParaRPr lang="en-US"/>
          </a:p>
        </p:txBody>
      </p:sp>
      <p:pic>
        <p:nvPicPr>
          <p:cNvPr id="5" name="Picture 4" descr="Rpl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345" y="960120"/>
            <a:ext cx="7167880" cy="5704840"/>
          </a:xfrm>
          <a:prstGeom prst="rect">
            <a:avLst/>
          </a:prstGeom>
        </p:spPr>
      </p:pic>
      <p:sp>
        <p:nvSpPr>
          <p:cNvPr id="6" name="Content Placeholder 5"/>
          <p:cNvSpPr/>
          <p:nvPr>
            <p:ph idx="1"/>
          </p:nvPr>
        </p:nvSpPr>
        <p:spPr>
          <a:xfrm>
            <a:off x="256540" y="1458595"/>
            <a:ext cx="4763770" cy="4351655"/>
          </a:xfrm>
        </p:spPr>
        <p:txBody>
          <a:bodyPr/>
          <a:p>
            <a:pPr marL="0" indent="0">
              <a:buNone/>
            </a:pPr>
            <a:endParaRPr lang="en-US" sz="24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PCA Plot</a:t>
            </a:r>
            <a:endParaRPr lang="en-US"/>
          </a:p>
        </p:txBody>
      </p:sp>
      <p:pic>
        <p:nvPicPr>
          <p:cNvPr id="5" name="Picture 4" descr="Rpl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345" y="960120"/>
            <a:ext cx="7167880" cy="5704840"/>
          </a:xfrm>
          <a:prstGeom prst="rect">
            <a:avLst/>
          </a:prstGeom>
        </p:spPr>
      </p:pic>
      <p:sp>
        <p:nvSpPr>
          <p:cNvPr id="6" name="Content Placeholder 5"/>
          <p:cNvSpPr/>
          <p:nvPr>
            <p:ph idx="1"/>
          </p:nvPr>
        </p:nvSpPr>
        <p:spPr>
          <a:xfrm>
            <a:off x="256540" y="1458595"/>
            <a:ext cx="4763770" cy="4351655"/>
          </a:xfrm>
        </p:spPr>
        <p:txBody>
          <a:bodyPr/>
          <a:p>
            <a:r>
              <a:rPr lang="en-US" sz="2400"/>
              <a:t>Large overlapping space means lots of unpredictability</a:t>
            </a: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PCA Plot</a:t>
            </a:r>
            <a:endParaRPr lang="en-US"/>
          </a:p>
        </p:txBody>
      </p:sp>
      <p:pic>
        <p:nvPicPr>
          <p:cNvPr id="5" name="Picture 4" descr="Rpl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345" y="960120"/>
            <a:ext cx="7167880" cy="5704840"/>
          </a:xfrm>
          <a:prstGeom prst="rect">
            <a:avLst/>
          </a:prstGeom>
        </p:spPr>
      </p:pic>
      <p:sp>
        <p:nvSpPr>
          <p:cNvPr id="6" name="Content Placeholder 5"/>
          <p:cNvSpPr/>
          <p:nvPr>
            <p:ph idx="1"/>
          </p:nvPr>
        </p:nvSpPr>
        <p:spPr>
          <a:xfrm>
            <a:off x="256540" y="1458595"/>
            <a:ext cx="4763770" cy="4351655"/>
          </a:xfrm>
        </p:spPr>
        <p:txBody>
          <a:bodyPr/>
          <a:p>
            <a:r>
              <a:rPr lang="en-US" sz="2400"/>
              <a:t>Large overlapping space means lots of unpredictability</a:t>
            </a:r>
            <a:endParaRPr lang="en-US" sz="2400"/>
          </a:p>
          <a:p>
            <a:r>
              <a:rPr lang="en-US" sz="2400"/>
              <a:t>Independent </a:t>
            </a:r>
            <a:r>
              <a:rPr lang="en-US" sz="2400" b="1">
                <a:solidFill>
                  <a:srgbClr val="FF0000"/>
                </a:solidFill>
              </a:rPr>
              <a:t>red</a:t>
            </a:r>
            <a:r>
              <a:rPr lang="en-US" sz="2400"/>
              <a:t> and </a:t>
            </a:r>
            <a:r>
              <a:rPr lang="en-US" sz="2400" b="1">
                <a:solidFill>
                  <a:srgbClr val="00B0F0"/>
                </a:solidFill>
              </a:rPr>
              <a:t>blue</a:t>
            </a:r>
            <a:r>
              <a:rPr lang="en-US" sz="2400"/>
              <a:t> space means there are certain easily identifiable matches</a:t>
            </a: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PCA Plot</a:t>
            </a:r>
            <a:endParaRPr lang="en-US"/>
          </a:p>
        </p:txBody>
      </p:sp>
      <p:pic>
        <p:nvPicPr>
          <p:cNvPr id="5" name="Picture 4" descr="Rpl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345" y="960120"/>
            <a:ext cx="7167880" cy="5704840"/>
          </a:xfrm>
          <a:prstGeom prst="rect">
            <a:avLst/>
          </a:prstGeom>
        </p:spPr>
      </p:pic>
      <p:sp>
        <p:nvSpPr>
          <p:cNvPr id="6" name="Content Placeholder 5"/>
          <p:cNvSpPr/>
          <p:nvPr>
            <p:ph idx="1"/>
          </p:nvPr>
        </p:nvSpPr>
        <p:spPr>
          <a:xfrm>
            <a:off x="256540" y="1458595"/>
            <a:ext cx="4763770" cy="4351655"/>
          </a:xfrm>
        </p:spPr>
        <p:txBody>
          <a:bodyPr/>
          <a:p>
            <a:r>
              <a:rPr lang="en-US" sz="2400"/>
              <a:t>Large overlapping space means lots of unpredictability</a:t>
            </a:r>
            <a:endParaRPr lang="en-US" sz="2400"/>
          </a:p>
          <a:p>
            <a:r>
              <a:rPr lang="en-US" sz="2400">
                <a:sym typeface="+mn-ea"/>
              </a:rPr>
              <a:t>Independent </a:t>
            </a:r>
            <a:r>
              <a:rPr lang="en-US" sz="2400" b="1">
                <a:solidFill>
                  <a:srgbClr val="FF0000"/>
                </a:solidFill>
                <a:sym typeface="+mn-ea"/>
              </a:rPr>
              <a:t>red</a:t>
            </a:r>
            <a:r>
              <a:rPr lang="en-US" sz="2400">
                <a:sym typeface="+mn-ea"/>
              </a:rPr>
              <a:t> and </a:t>
            </a:r>
            <a:r>
              <a:rPr lang="en-US" sz="2400" b="1">
                <a:solidFill>
                  <a:srgbClr val="00B0F0"/>
                </a:solidFill>
                <a:sym typeface="+mn-ea"/>
              </a:rPr>
              <a:t>blue</a:t>
            </a:r>
            <a:r>
              <a:rPr lang="en-US" sz="2400">
                <a:sym typeface="+mn-ea"/>
              </a:rPr>
              <a:t> space means there are certain easily identifiable matches</a:t>
            </a:r>
            <a:endParaRPr lang="en-US" sz="2400"/>
          </a:p>
          <a:p>
            <a:r>
              <a:rPr lang="en-US" sz="2400"/>
              <a:t>Slightly </a:t>
            </a:r>
            <a:r>
              <a:rPr lang="en-US" sz="2400" b="1">
                <a:solidFill>
                  <a:srgbClr val="FF0000"/>
                </a:solidFill>
              </a:rPr>
              <a:t>larger red space</a:t>
            </a:r>
            <a:r>
              <a:rPr lang="en-US" sz="2400"/>
              <a:t> is due to chance, as there should be no difference between average ability of Team 1 and Team 2</a:t>
            </a:r>
            <a:endParaRPr lang="en-US" sz="2400"/>
          </a:p>
          <a:p>
            <a:endParaRPr lang="en-US" sz="24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Best Predictors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2411095" y="1397635"/>
          <a:ext cx="7552690" cy="4525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6345"/>
                <a:gridCol w="3776345"/>
              </a:tblGrid>
              <a:tr h="6464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Model Name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Accuracy</a:t>
                      </a:r>
                      <a:endParaRPr lang="en-US"/>
                    </a:p>
                  </a:txBody>
                  <a:tcPr/>
                </a:tc>
              </a:tr>
              <a:tr h="6464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KNN 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73.7%</a:t>
                      </a:r>
                      <a:endParaRPr lang="en-US"/>
                    </a:p>
                  </a:txBody>
                  <a:tcPr/>
                </a:tc>
              </a:tr>
              <a:tr h="6464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highlight>
                            <a:srgbClr val="FFFF00"/>
                          </a:highlight>
                        </a:rPr>
                        <a:t>Naive Bayes Classifier*</a:t>
                      </a:r>
                      <a:endParaRPr lang="en-US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71.1%</a:t>
                      </a:r>
                      <a:endParaRPr lang="en-US"/>
                    </a:p>
                  </a:txBody>
                  <a:tcPr/>
                </a:tc>
              </a:tr>
              <a:tr h="6464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highlight>
                            <a:srgbClr val="FFFF00"/>
                          </a:highlight>
                        </a:rPr>
                        <a:t>Polynomial SVM*</a:t>
                      </a:r>
                      <a:endParaRPr lang="en-US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77.63%</a:t>
                      </a:r>
                      <a:endParaRPr lang="en-US"/>
                    </a:p>
                  </a:txBody>
                  <a:tcPr/>
                </a:tc>
              </a:tr>
              <a:tr h="6464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Radial SVM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75%</a:t>
                      </a:r>
                      <a:endParaRPr lang="en-US"/>
                    </a:p>
                  </a:txBody>
                  <a:tcPr/>
                </a:tc>
              </a:tr>
              <a:tr h="6464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highlight>
                            <a:srgbClr val="FFFF00"/>
                          </a:highlight>
                        </a:rPr>
                        <a:t>Cost SVM*</a:t>
                      </a:r>
                      <a:endParaRPr lang="en-US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76.32</a:t>
                      </a:r>
                      <a:endParaRPr lang="en-US"/>
                    </a:p>
                  </a:txBody>
                  <a:tcPr/>
                </a:tc>
              </a:tr>
              <a:tr h="6464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Simple ANN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77%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2573020" y="6017895"/>
            <a:ext cx="72288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*Naive Bayes, Polynomial SVM, and Radial SVM were all dropped because they essentially only picked higher seeds.*</a:t>
            </a:r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Predictions: Top Teams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825625"/>
          <a:ext cx="10871835" cy="217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564"/>
                <a:gridCol w="932180"/>
                <a:gridCol w="2119630"/>
                <a:gridCol w="1919605"/>
                <a:gridCol w="2205368"/>
                <a:gridCol w="2069488"/>
              </a:tblGrid>
              <a:tr h="6432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Team Name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Seed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KNN 3 Total Wins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ANN Total Wins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RSVM Total Wins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Total Score*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829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70C0"/>
                          </a:solidFill>
                          <a:latin typeface="Arial Bold" panose="020B0604020202020204" charset="0"/>
                          <a:cs typeface="Arial Bold" panose="020B0604020202020204" charset="0"/>
                        </a:rPr>
                        <a:t>Florida</a:t>
                      </a:r>
                      <a:endParaRPr lang="en-US" b="1">
                        <a:solidFill>
                          <a:srgbClr val="0070C0"/>
                        </a:solidFill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1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/>
                        <a:t>6 (champions)</a:t>
                      </a:r>
                      <a:endParaRPr lang="en-US" b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/>
                        <a:t>5</a:t>
                      </a:r>
                      <a:endParaRPr lang="en-US" b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/>
                        <a:t>16</a:t>
                      </a:r>
                      <a:endParaRPr lang="en-US" b="1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822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0000"/>
                          </a:solidFill>
                          <a:latin typeface="Arial Bold" panose="020B0604020202020204" charset="0"/>
                          <a:cs typeface="Arial Bold" panose="020B0604020202020204" charset="0"/>
                        </a:rPr>
                        <a:t>Houston</a:t>
                      </a:r>
                      <a:endParaRPr lang="en-US" b="1">
                        <a:solidFill>
                          <a:srgbClr val="FF0000"/>
                        </a:solidFill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1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(champions)</a:t>
                      </a:r>
                      <a:endParaRPr lang="en-US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/>
                        <a:t>5</a:t>
                      </a:r>
                      <a:endParaRPr lang="en-US" b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/>
                        <a:t>4</a:t>
                      </a:r>
                      <a:endParaRPr lang="en-US" b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/>
                        <a:t>15</a:t>
                      </a:r>
                      <a:endParaRPr lang="en-US" b="1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829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>
                          <a:solidFill>
                            <a:srgbClr val="0070C0"/>
                          </a:solidFill>
                          <a:latin typeface="Arial Bold" panose="020B0604020202020204" charset="0"/>
                          <a:cs typeface="Arial Bold" panose="020B0604020202020204" charset="0"/>
                        </a:rPr>
                        <a:t>Duke</a:t>
                      </a:r>
                      <a:endParaRPr lang="en-US" b="0">
                        <a:solidFill>
                          <a:srgbClr val="0070C0"/>
                        </a:solidFill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>
                          <a:latin typeface="Arial Bold" panose="020B0604020202020204" charset="0"/>
                          <a:cs typeface="Arial Bold" panose="020B0604020202020204" charset="0"/>
                        </a:rPr>
                        <a:t>1</a:t>
                      </a:r>
                      <a:endParaRPr lang="en-US" b="0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/>
                        <a:t>4</a:t>
                      </a:r>
                      <a:endParaRPr lang="en-US" b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/>
                        <a:t>6 (champions)</a:t>
                      </a:r>
                      <a:endParaRPr lang="en-US" b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/>
                        <a:t>14</a:t>
                      </a:r>
                      <a:endParaRPr lang="en-US" b="1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829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2060"/>
                          </a:solidFill>
                          <a:latin typeface="Arial Bold" panose="020B0604020202020204" charset="0"/>
                          <a:cs typeface="Arial Bold" panose="020B0604020202020204" charset="0"/>
                        </a:rPr>
                        <a:t>Auburn</a:t>
                      </a:r>
                      <a:endParaRPr lang="en-US" b="1">
                        <a:solidFill>
                          <a:srgbClr val="002060"/>
                        </a:solidFill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20204" charset="0"/>
                          <a:cs typeface="Arial Bold" panose="020B0604020202020204" charset="0"/>
                        </a:rPr>
                        <a:t>1</a:t>
                      </a:r>
                      <a:endParaRPr lang="en-US" b="1">
                        <a:latin typeface="Arial Bold" panose="020B0604020202020204" charset="0"/>
                        <a:cs typeface="Arial Bold" panose="020B060402020202020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/>
                        <a:t>4</a:t>
                      </a:r>
                      <a:endParaRPr lang="en-US" b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/>
                        <a:t>4</a:t>
                      </a:r>
                      <a:endParaRPr lang="en-US" b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/>
                        <a:t>12</a:t>
                      </a:r>
                      <a:endParaRPr lang="en-US" b="1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1106805" y="4406900"/>
            <a:ext cx="953325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Each model had all the #1 seeds make the Final 4</a:t>
            </a: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Florida, Houston, and Duke were all predicted as champions in at least one model</a:t>
            </a:r>
            <a:endParaRPr lang="en-US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Florida was the top overall team, but Duke and Houston were very close.</a:t>
            </a:r>
            <a:endParaRPr lang="en-US" sz="2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Predictions: Round 1 Potential Upsets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431800" y="1845945"/>
          <a:ext cx="110724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8835"/>
                <a:gridCol w="2332355"/>
                <a:gridCol w="1465580"/>
                <a:gridCol w="1446530"/>
                <a:gridCol w="1355090"/>
                <a:gridCol w="23641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Team 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Team 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KNN 3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ANN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SVM C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Total Upset Score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Texas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b="1">
                          <a:solidFill>
                            <a:srgbClr val="002060"/>
                          </a:solidFill>
                        </a:rPr>
                        <a:t>Xavier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(11)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2060"/>
                          </a:solidFill>
                        </a:rPr>
                        <a:t>Illinois</a:t>
                      </a:r>
                      <a:r>
                        <a:rPr lang="en-US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(6)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70C0"/>
                          </a:solidFill>
                        </a:rPr>
                        <a:t>Memphis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(5)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B050"/>
                          </a:solidFill>
                        </a:rPr>
                        <a:t>Colorado St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(12)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8F088"/>
                          </a:solidFill>
                        </a:rPr>
                        <a:t>Vanderbilt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(10)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0000"/>
                          </a:solidFill>
                        </a:rPr>
                        <a:t>St. Mary’s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(7)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FF00"/>
                          </a:solidFill>
                        </a:rPr>
                        <a:t>Michigan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(5)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UC San Diego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(12)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VCU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(11)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/>
                          </a:solidFill>
                        </a:rPr>
                        <a:t>BYU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(6)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628015" y="4417060"/>
            <a:ext cx="1108265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The most likely upset based on these 3 models is </a:t>
            </a:r>
            <a:r>
              <a:rPr lang="en-US" sz="2000" b="1">
                <a:solidFill>
                  <a:srgbClr val="002060"/>
                </a:solidFill>
              </a:rPr>
              <a:t>Illinois</a:t>
            </a:r>
            <a:r>
              <a:rPr lang="en-US" sz="2000"/>
              <a:t> losing to the winner of the play-in game between </a:t>
            </a:r>
            <a:r>
              <a:rPr lang="en-US" sz="2000" b="1">
                <a:solidFill>
                  <a:schemeClr val="accent4">
                    <a:lumMod val="75000"/>
                  </a:schemeClr>
                </a:solidFill>
              </a:rPr>
              <a:t>Texas</a:t>
            </a:r>
            <a:r>
              <a:rPr lang="en-US" sz="2000"/>
              <a:t> and </a:t>
            </a:r>
            <a:r>
              <a:rPr lang="en-US" sz="2000" b="1">
                <a:solidFill>
                  <a:srgbClr val="002060"/>
                </a:solidFill>
              </a:rPr>
              <a:t>Xavier</a:t>
            </a:r>
            <a:r>
              <a:rPr lang="en-US" sz="2000"/>
              <a:t>, with all 3 models choosing the lower seed.</a:t>
            </a: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2 models selected the lower seed in</a:t>
            </a:r>
            <a:r>
              <a:rPr lang="en-US" sz="2000" b="1">
                <a:solidFill>
                  <a:srgbClr val="0070C0"/>
                </a:solidFill>
              </a:rPr>
              <a:t> Memphis</a:t>
            </a:r>
            <a:r>
              <a:rPr lang="en-US" sz="2000" b="1"/>
              <a:t> </a:t>
            </a:r>
            <a:r>
              <a:rPr lang="en-US" sz="2000"/>
              <a:t>vs</a:t>
            </a:r>
            <a:r>
              <a:rPr lang="en-US" sz="2000" b="1"/>
              <a:t> </a:t>
            </a:r>
            <a:r>
              <a:rPr lang="en-US" sz="2000" b="1">
                <a:solidFill>
                  <a:srgbClr val="00B050"/>
                </a:solidFill>
              </a:rPr>
              <a:t>Colorado St.</a:t>
            </a:r>
            <a:r>
              <a:rPr lang="en-US" sz="2000"/>
              <a:t> as well as </a:t>
            </a:r>
            <a:r>
              <a:rPr lang="en-US" sz="2000" b="1">
                <a:solidFill>
                  <a:srgbClr val="F8F088"/>
                </a:solidFill>
              </a:rPr>
              <a:t>Vanderbilt</a:t>
            </a:r>
            <a:r>
              <a:rPr lang="en-US" sz="2000" b="1"/>
              <a:t> </a:t>
            </a:r>
            <a:r>
              <a:rPr lang="en-US" sz="2000"/>
              <a:t>vs</a:t>
            </a:r>
            <a:r>
              <a:rPr lang="en-US" sz="2000" b="1"/>
              <a:t> </a:t>
            </a:r>
            <a:r>
              <a:rPr lang="en-US" sz="2000" b="1">
                <a:solidFill>
                  <a:srgbClr val="FF0000"/>
                </a:solidFill>
              </a:rPr>
              <a:t>St. Mary’s </a:t>
            </a:r>
            <a:endParaRPr lang="en-US" sz="2000" b="1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Only the ANN model selected upsets in </a:t>
            </a:r>
            <a:r>
              <a:rPr lang="en-US" sz="2000" b="1">
                <a:solidFill>
                  <a:srgbClr val="FFFF00"/>
                </a:solidFill>
                <a:sym typeface="+mn-ea"/>
              </a:rPr>
              <a:t>Michigan </a:t>
            </a:r>
            <a:r>
              <a:rPr lang="en-US" sz="2000">
                <a:solidFill>
                  <a:schemeClr val="tx1"/>
                </a:solidFill>
                <a:sym typeface="+mn-ea"/>
              </a:rPr>
              <a:t>vs </a:t>
            </a:r>
            <a:r>
              <a:rPr lang="en-US" sz="2000" b="1">
                <a:solidFill>
                  <a:schemeClr val="accent5">
                    <a:lumMod val="75000"/>
                  </a:schemeClr>
                </a:solidFill>
                <a:sym typeface="+mn-ea"/>
              </a:rPr>
              <a:t>UC San Diego </a:t>
            </a:r>
            <a:r>
              <a:rPr lang="en-US" sz="2000">
                <a:solidFill>
                  <a:schemeClr val="tx1"/>
                </a:solidFill>
                <a:sym typeface="+mn-ea"/>
              </a:rPr>
              <a:t>and </a:t>
            </a:r>
            <a:r>
              <a:rPr lang="en-US" sz="2000" b="1">
                <a:sym typeface="+mn-ea"/>
              </a:rPr>
              <a:t>VCU </a:t>
            </a:r>
            <a:r>
              <a:rPr lang="en-US" sz="2000">
                <a:sym typeface="+mn-ea"/>
              </a:rPr>
              <a:t>vs</a:t>
            </a:r>
            <a:r>
              <a:rPr lang="en-US" sz="2000" b="1">
                <a:sym typeface="+mn-ea"/>
              </a:rPr>
              <a:t> </a:t>
            </a:r>
            <a:r>
              <a:rPr lang="en-US" sz="2000" b="1">
                <a:solidFill>
                  <a:schemeClr val="accent1"/>
                </a:solidFill>
                <a:sym typeface="+mn-ea"/>
              </a:rPr>
              <a:t>BYU</a:t>
            </a:r>
            <a:r>
              <a:rPr lang="en-US" sz="2000">
                <a:solidFill>
                  <a:schemeClr val="tx1"/>
                </a:solidFill>
                <a:sym typeface="+mn-ea"/>
              </a:rPr>
              <a:t>, but they are still ones to keep an eye on</a:t>
            </a:r>
            <a:endParaRPr lang="en-US" sz="2000" b="1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Predictions: Further Potential Upsets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838200" y="1825625"/>
          <a:ext cx="105156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2790"/>
                <a:gridCol w="2214880"/>
                <a:gridCol w="1391920"/>
                <a:gridCol w="1374140"/>
                <a:gridCol w="1286510"/>
                <a:gridCol w="224536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Team 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Team 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KNN 3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ANN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SVM C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Total Upset Score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 Bold" panose="020B0604020202020204" charset="0"/>
                          <a:cs typeface="Arial Bold" panose="020B0604020202020204" charset="0"/>
                        </a:rPr>
                        <a:t>Kansas </a:t>
                      </a:r>
                      <a:r>
                        <a:rPr lang="en-US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(7)</a:t>
                      </a:r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B05214"/>
                          </a:solidFill>
                        </a:rPr>
                        <a:t>St. John’s</a:t>
                      </a:r>
                      <a:r>
                        <a:rPr lang="en-US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(2)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Texas A&amp;M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(4)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70C0"/>
                          </a:solidFill>
                        </a:rPr>
                        <a:t>UC San Diego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(12)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Wisconsin</a:t>
                      </a:r>
                      <a:r>
                        <a:rPr lang="en-US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0">
                          <a:solidFill>
                            <a:schemeClr val="tx1"/>
                          </a:solidFill>
                        </a:rPr>
                        <a:t>(3)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/>
                          </a:solidFill>
                        </a:rPr>
                        <a:t>BYU</a:t>
                      </a:r>
                      <a:r>
                        <a:rPr lang="en-US">
                          <a:solidFill>
                            <a:schemeClr val="tx1"/>
                          </a:solidFill>
                        </a:rPr>
                        <a:t> (6)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 Bold" panose="020B0604020202020204" charset="0"/>
                          <a:cs typeface="Arial Bold" panose="020B0604020202020204" charset="0"/>
                        </a:rPr>
                        <a:t>Ole Miss</a:t>
                      </a:r>
                      <a:r>
                        <a:rPr lang="en-US" b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(6) / </a:t>
                      </a:r>
                      <a:r>
                        <a:rPr lang="en-US" b="1">
                          <a:solidFill>
                            <a:srgbClr val="FF0000"/>
                          </a:solidFill>
                          <a:latin typeface="Arial Bold" panose="020B0604020202020204" charset="0"/>
                          <a:cs typeface="Arial Bold" panose="020B0604020202020204" charset="0"/>
                        </a:rPr>
                        <a:t>Iowa St.</a:t>
                      </a:r>
                      <a:r>
                        <a:rPr lang="en-US" b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(3)</a:t>
                      </a:r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803C"/>
                          </a:solidFill>
                          <a:latin typeface="Arial Bold" panose="020B0604020202020204" charset="0"/>
                          <a:cs typeface="Arial Bold" panose="020B0604020202020204" charset="0"/>
                        </a:rPr>
                        <a:t>Michigan St. </a:t>
                      </a:r>
                      <a:r>
                        <a:rPr lang="en-US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(2)</a:t>
                      </a:r>
                      <a:endParaRPr lang="en-US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1116965" y="4386580"/>
            <a:ext cx="962533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7-seed </a:t>
            </a:r>
            <a:r>
              <a:rPr lang="en-US" sz="2000" b="1">
                <a:solidFill>
                  <a:schemeClr val="accent1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Kansas</a:t>
            </a:r>
            <a:r>
              <a:rPr lang="en-US" sz="2000"/>
              <a:t> upsetting </a:t>
            </a:r>
            <a:r>
              <a:rPr lang="en-US" sz="2000" b="1">
                <a:solidFill>
                  <a:srgbClr val="B05214"/>
                </a:solidFill>
                <a:sym typeface="+mn-ea"/>
              </a:rPr>
              <a:t>St. John’s</a:t>
            </a:r>
            <a:r>
              <a:rPr lang="en-US" sz="2000"/>
              <a:t> in the second round was the most popular upset, and was predicted by all 3 models.</a:t>
            </a: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0070C0"/>
                </a:solidFill>
                <a:sym typeface="+mn-ea"/>
              </a:rPr>
              <a:t>UC San Diego</a:t>
            </a:r>
            <a:r>
              <a:rPr lang="en-US" sz="2000"/>
              <a:t> beating </a:t>
            </a:r>
            <a:r>
              <a:rPr lang="en-US" sz="2000" b="1">
                <a:solidFill>
                  <a:schemeClr val="accent2">
                    <a:lumMod val="50000"/>
                  </a:schemeClr>
                </a:solidFill>
                <a:sym typeface="+mn-ea"/>
              </a:rPr>
              <a:t>Texas A&amp;M</a:t>
            </a:r>
            <a:r>
              <a:rPr lang="en-US" sz="2000"/>
              <a:t> and </a:t>
            </a:r>
            <a:r>
              <a:rPr lang="en-US" sz="2000" b="1">
                <a:solidFill>
                  <a:schemeClr val="accent2">
                    <a:lumMod val="75000"/>
                  </a:schemeClr>
                </a:solidFill>
                <a:sym typeface="+mn-ea"/>
              </a:rPr>
              <a:t>Wisconsin</a:t>
            </a:r>
            <a:r>
              <a:rPr lang="en-US" sz="2000"/>
              <a:t> losing to </a:t>
            </a:r>
            <a:r>
              <a:rPr lang="en-US" sz="2000" b="1">
                <a:solidFill>
                  <a:schemeClr val="accent1"/>
                </a:solidFill>
                <a:sym typeface="+mn-ea"/>
              </a:rPr>
              <a:t>BYU</a:t>
            </a:r>
            <a:r>
              <a:rPr lang="en-US" sz="2000"/>
              <a:t> were both predicted by 1 model.</a:t>
            </a: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The ANN model chose </a:t>
            </a:r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Ole Miss</a:t>
            </a:r>
            <a:r>
              <a:rPr lang="en-US" sz="2000"/>
              <a:t> to beat </a:t>
            </a:r>
            <a:r>
              <a:rPr lang="en-US" sz="2000" b="1">
                <a:solidFill>
                  <a:srgbClr val="FF0000"/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Iowa St.</a:t>
            </a:r>
            <a:r>
              <a:rPr lang="en-US" sz="2000"/>
              <a:t> in the second round and </a:t>
            </a:r>
            <a:r>
              <a:rPr lang="en-US" sz="2000" b="1">
                <a:solidFill>
                  <a:srgbClr val="00803C"/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Michigan St.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 the Sweet 16,</a:t>
            </a:r>
            <a:r>
              <a:rPr lang="en-US" sz="2000"/>
              <a:t> while the Cost SVM model predicted </a:t>
            </a:r>
            <a:r>
              <a:rPr lang="en-US" sz="2000" b="1">
                <a:solidFill>
                  <a:srgbClr val="FF0000"/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Iowa St. </a:t>
            </a:r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to survive and go on to beat</a:t>
            </a:r>
            <a:r>
              <a:rPr lang="en-US" sz="2000" b="1">
                <a:solidFill>
                  <a:srgbClr val="FF0000"/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 </a:t>
            </a:r>
            <a:r>
              <a:rPr lang="en-US" sz="2000" b="1">
                <a:solidFill>
                  <a:srgbClr val="00803C"/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Michigan St.</a:t>
            </a: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11063</Words>
  <Application>WPS Presentation</Application>
  <PresentationFormat>Widescreen</PresentationFormat>
  <Paragraphs>1114</Paragraphs>
  <Slides>48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0" baseType="lpstr">
      <vt:lpstr>Arial</vt:lpstr>
      <vt:lpstr>SimSun</vt:lpstr>
      <vt:lpstr>Wingdings</vt:lpstr>
      <vt:lpstr>Arial Bold</vt:lpstr>
      <vt:lpstr>Calibri Light</vt:lpstr>
      <vt:lpstr>Helvetica Neue</vt:lpstr>
      <vt:lpstr>Calibri</vt:lpstr>
      <vt:lpstr>Microsoft YaHei</vt:lpstr>
      <vt:lpstr>汉仪旗黑</vt:lpstr>
      <vt:lpstr>Arial Unicode MS</vt:lpstr>
      <vt:lpstr>宋体-简</vt:lpstr>
      <vt:lpstr>Office Theme</vt:lpstr>
      <vt:lpstr>March Madness 2025 Predictions</vt:lpstr>
      <vt:lpstr>Overview</vt:lpstr>
      <vt:lpstr>Data and Sources</vt:lpstr>
      <vt:lpstr>Team Dataset Analysis</vt:lpstr>
      <vt:lpstr>Data Description</vt:lpstr>
      <vt:lpstr>Data Description Continued</vt:lpstr>
      <vt:lpstr>Data Description Continued</vt:lpstr>
      <vt:lpstr>Correlation Plot</vt:lpstr>
      <vt:lpstr>Correlation Plot</vt:lpstr>
      <vt:lpstr>Correlation Plot</vt:lpstr>
      <vt:lpstr>Variable Selection</vt:lpstr>
      <vt:lpstr>Target Variable Manipulation</vt:lpstr>
      <vt:lpstr>Coordinates Plot</vt:lpstr>
      <vt:lpstr>Coordinates Plot</vt:lpstr>
      <vt:lpstr>Coordinates Plot</vt:lpstr>
      <vt:lpstr>Coordinates Plot</vt:lpstr>
      <vt:lpstr>Coordinates Plot</vt:lpstr>
      <vt:lpstr>Coordinates Plot</vt:lpstr>
      <vt:lpstr>PowerPoint 演示文稿</vt:lpstr>
      <vt:lpstr>PCA Plot</vt:lpstr>
      <vt:lpstr>PCA Plot</vt:lpstr>
      <vt:lpstr>PCA Plot</vt:lpstr>
      <vt:lpstr>PCA Plot</vt:lpstr>
      <vt:lpstr>Best Predictors</vt:lpstr>
      <vt:lpstr>KNN-11 Round2</vt:lpstr>
      <vt:lpstr>KNN-3 Elite8</vt:lpstr>
      <vt:lpstr>Ripper Sweet16</vt:lpstr>
      <vt:lpstr>Naive Bayes TW</vt:lpstr>
      <vt:lpstr>Predictions: Top Teams</vt:lpstr>
      <vt:lpstr>Predictions: Sleepers</vt:lpstr>
      <vt:lpstr>Predictions: Most Likely to be Upset</vt:lpstr>
      <vt:lpstr>PowerPoint 演示文稿</vt:lpstr>
      <vt:lpstr>PowerPoint 演示文稿</vt:lpstr>
      <vt:lpstr>PowerPoint 演示文稿</vt:lpstr>
      <vt:lpstr>PowerPoint 演示文稿</vt:lpstr>
      <vt:lpstr>Correlation Plot</vt:lpstr>
      <vt:lpstr>Correlation Plot</vt:lpstr>
      <vt:lpstr>PowerPoint 演示文稿</vt:lpstr>
      <vt:lpstr>PowerPoint 演示文稿</vt:lpstr>
      <vt:lpstr>Coordinates Plot</vt:lpstr>
      <vt:lpstr>PCA Plot</vt:lpstr>
      <vt:lpstr>PCA Plot</vt:lpstr>
      <vt:lpstr>PCA Plot</vt:lpstr>
      <vt:lpstr>PCA Plot</vt:lpstr>
      <vt:lpstr>Best Predictors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March Madness 2025 Predictions</dc:title>
  <dc:creator>danielaybar</dc:creator>
  <cp:lastModifiedBy>google1600112942</cp:lastModifiedBy>
  <cp:revision>7</cp:revision>
  <dcterms:created xsi:type="dcterms:W3CDTF">2025-10-02T17:13:03Z</dcterms:created>
  <dcterms:modified xsi:type="dcterms:W3CDTF">2025-10-02T17:13:03Z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1033-4.4.2.7667</vt:lpwstr>
  </property>
</Properties>
</file>